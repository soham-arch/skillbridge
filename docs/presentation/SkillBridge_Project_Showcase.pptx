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3c88007b143b8" /><Relationship Type="http://schemas.openxmlformats.org/officeDocument/2006/relationships/extended-properties" Target="/docProps/app.xml" Id="R48a630ec16e74c7d" /><Relationship Type="http://schemas.openxmlformats.org/officeDocument/2006/relationships/officeDocument" Target="/ppt/presentation.xml" Id="R54dd593a1265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bc1b806f242da"/>
  </p:sldMasterIdLst>
  <p:notesMasterIdLst>
    <p:notesMasterId xmlns:r="http://schemas.openxmlformats.org/officeDocument/2006/relationships" r:id="R0e2832cbe29c49ee"/>
  </p:notesMasterIdLst>
  <p:sldIdLst>
    <p:sldId xmlns:r="http://schemas.openxmlformats.org/officeDocument/2006/relationships" id="256" r:id="R3d217917d22a44fd"/>
    <p:sldId xmlns:r="http://schemas.openxmlformats.org/officeDocument/2006/relationships" id="257" r:id="Rb06c8d6359354189"/>
    <p:sldId xmlns:r="http://schemas.openxmlformats.org/officeDocument/2006/relationships" id="258" r:id="Rb5b7a01be7aa4c7a"/>
    <p:sldId xmlns:r="http://schemas.openxmlformats.org/officeDocument/2006/relationships" id="259" r:id="Rf28973778849480a"/>
    <p:sldId xmlns:r="http://schemas.openxmlformats.org/officeDocument/2006/relationships" id="260" r:id="R59f5b39235844933"/>
    <p:sldId xmlns:r="http://schemas.openxmlformats.org/officeDocument/2006/relationships" id="261" r:id="R24fd8b8228b24ebb"/>
    <p:sldId xmlns:r="http://schemas.openxmlformats.org/officeDocument/2006/relationships" id="262" r:id="Rdcf2403c7c7d4515"/>
    <p:sldId xmlns:r="http://schemas.openxmlformats.org/officeDocument/2006/relationships" id="263" r:id="Re6832c5bd2d94340"/>
    <p:sldId xmlns:r="http://schemas.openxmlformats.org/officeDocument/2006/relationships" id="264" r:id="R59fb573611584fec"/>
    <p:sldId xmlns:r="http://schemas.openxmlformats.org/officeDocument/2006/relationships" id="265" r:id="R7f7b097afc4e4f27"/>
    <p:sldId xmlns:r="http://schemas.openxmlformats.org/officeDocument/2006/relationships" id="266" r:id="R07b51a2c62cb452f"/>
    <p:sldId xmlns:r="http://schemas.openxmlformats.org/officeDocument/2006/relationships" id="267" r:id="R82aad022032e4354"/>
    <p:sldId xmlns:r="http://schemas.openxmlformats.org/officeDocument/2006/relationships" id="268" r:id="R34534e8ab7564134"/>
    <p:sldId xmlns:r="http://schemas.openxmlformats.org/officeDocument/2006/relationships" id="269" r:id="R2b96cd27bab7422d"/>
    <p:sldId xmlns:r="http://schemas.openxmlformats.org/officeDocument/2006/relationships" id="270" r:id="R05a515828a994eea"/>
    <p:sldId xmlns:r="http://schemas.openxmlformats.org/officeDocument/2006/relationships" id="271" r:id="Ra35d1826eaa0483f"/>
    <p:sldId xmlns:r="http://schemas.openxmlformats.org/officeDocument/2006/relationships" id="272" r:id="R6789e84605834bd1"/>
    <p:sldId xmlns:r="http://schemas.openxmlformats.org/officeDocument/2006/relationships" id="273" r:id="Ra7dcf7a1808d4cde"/>
    <p:sldId xmlns:r="http://schemas.openxmlformats.org/officeDocument/2006/relationships" id="274" r:id="R038e2c1728bc4275"/>
    <p:sldId xmlns:r="http://schemas.openxmlformats.org/officeDocument/2006/relationships" id="275" r:id="Rbbc39764cbdd4927"/>
    <p:sldId xmlns:r="http://schemas.openxmlformats.org/officeDocument/2006/relationships" id="276" r:id="R1deeeb58ae514508"/>
    <p:sldId xmlns:r="http://schemas.openxmlformats.org/officeDocument/2006/relationships" id="277" r:id="Rdafe691a22a045d7"/>
    <p:sldId xmlns:r="http://schemas.openxmlformats.org/officeDocument/2006/relationships" id="278" r:id="Rcf72e8b8f24d4623"/>
    <p:sldId xmlns:r="http://schemas.openxmlformats.org/officeDocument/2006/relationships" id="279" r:id="Rf9b6f656f7e74ff2"/>
    <p:sldId xmlns:r="http://schemas.openxmlformats.org/officeDocument/2006/relationships" id="280" r:id="R009b6cc8151d475f"/>
    <p:sldId xmlns:r="http://schemas.openxmlformats.org/officeDocument/2006/relationships" id="281" r:id="R5560bbf7dc2f49fc"/>
    <p:sldId xmlns:r="http://schemas.openxmlformats.org/officeDocument/2006/relationships" id="282" r:id="R5bc79f07f73f46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6db8ccee954cb3" /><Relationship Type="http://schemas.openxmlformats.org/officeDocument/2006/relationships/slideMaster" Target="/ppt/slideMasters/slideMaster1.xml" Id="R204bc1b806f242da" /><Relationship Type="http://schemas.openxmlformats.org/officeDocument/2006/relationships/notesMaster" Target="/ppt/notesMasters/notesMaster1.xml" Id="R0e2832cbe29c49ee" /><Relationship Type="http://schemas.openxmlformats.org/officeDocument/2006/relationships/presProps" Target="/ppt/presProps.xml" Id="R693f183c92784d7d" /><Relationship Type="http://schemas.openxmlformats.org/officeDocument/2006/relationships/tableStyles" Target="/ppt/tableStyles.xml" Id="R7e8a2499bfc44b89" /><Relationship Type="http://schemas.openxmlformats.org/officeDocument/2006/relationships/slide" Target="/ppt/slides/slide1.xml" Id="R3d217917d22a44fd" /><Relationship Type="http://schemas.openxmlformats.org/officeDocument/2006/relationships/slide" Target="/ppt/slides/slide2.xml" Id="Rb06c8d6359354189" /><Relationship Type="http://schemas.openxmlformats.org/officeDocument/2006/relationships/slide" Target="/ppt/slides/slide3.xml" Id="Rb5b7a01be7aa4c7a" /><Relationship Type="http://schemas.openxmlformats.org/officeDocument/2006/relationships/slide" Target="/ppt/slides/slide4.xml" Id="Rf28973778849480a" /><Relationship Type="http://schemas.openxmlformats.org/officeDocument/2006/relationships/slide" Target="/ppt/slides/slide5.xml" Id="R59f5b39235844933" /><Relationship Type="http://schemas.openxmlformats.org/officeDocument/2006/relationships/slide" Target="/ppt/slides/slide6.xml" Id="R24fd8b8228b24ebb" /><Relationship Type="http://schemas.openxmlformats.org/officeDocument/2006/relationships/slide" Target="/ppt/slides/slide7.xml" Id="Rdcf2403c7c7d4515" /><Relationship Type="http://schemas.openxmlformats.org/officeDocument/2006/relationships/slide" Target="/ppt/slides/slide8.xml" Id="Re6832c5bd2d94340" /><Relationship Type="http://schemas.openxmlformats.org/officeDocument/2006/relationships/slide" Target="/ppt/slides/slide9.xml" Id="R59fb573611584fec" /><Relationship Type="http://schemas.openxmlformats.org/officeDocument/2006/relationships/slide" Target="/ppt/slides/slide10.xml" Id="R7f7b097afc4e4f27" /><Relationship Type="http://schemas.openxmlformats.org/officeDocument/2006/relationships/slide" Target="/ppt/slides/slide11.xml" Id="R07b51a2c62cb452f" /><Relationship Type="http://schemas.openxmlformats.org/officeDocument/2006/relationships/slide" Target="/ppt/slides/slide12.xml" Id="R82aad022032e4354" /><Relationship Type="http://schemas.openxmlformats.org/officeDocument/2006/relationships/slide" Target="/ppt/slides/slide13.xml" Id="R34534e8ab7564134" /><Relationship Type="http://schemas.openxmlformats.org/officeDocument/2006/relationships/slide" Target="/ppt/slides/slide14.xml" Id="R2b96cd27bab7422d" /><Relationship Type="http://schemas.openxmlformats.org/officeDocument/2006/relationships/slide" Target="/ppt/slides/slide15.xml" Id="R05a515828a994eea" /><Relationship Type="http://schemas.openxmlformats.org/officeDocument/2006/relationships/slide" Target="/ppt/slides/slide16.xml" Id="Ra35d1826eaa0483f" /><Relationship Type="http://schemas.openxmlformats.org/officeDocument/2006/relationships/slide" Target="/ppt/slides/slide17.xml" Id="R6789e84605834bd1" /><Relationship Type="http://schemas.openxmlformats.org/officeDocument/2006/relationships/slide" Target="/ppt/slides/slide18.xml" Id="Ra7dcf7a1808d4cde" /><Relationship Type="http://schemas.openxmlformats.org/officeDocument/2006/relationships/slide" Target="/ppt/slides/slide19.xml" Id="R038e2c1728bc4275" /><Relationship Type="http://schemas.openxmlformats.org/officeDocument/2006/relationships/slide" Target="/ppt/slides/slide20.xml" Id="Rbbc39764cbdd4927" /><Relationship Type="http://schemas.openxmlformats.org/officeDocument/2006/relationships/slide" Target="/ppt/slides/slide21.xml" Id="R1deeeb58ae514508" /><Relationship Type="http://schemas.openxmlformats.org/officeDocument/2006/relationships/slide" Target="/ppt/slides/slide22.xml" Id="Rdafe691a22a045d7" /><Relationship Type="http://schemas.openxmlformats.org/officeDocument/2006/relationships/slide" Target="/ppt/slides/slide23.xml" Id="Rcf72e8b8f24d4623" /><Relationship Type="http://schemas.openxmlformats.org/officeDocument/2006/relationships/slide" Target="/ppt/slides/slide24.xml" Id="Rf9b6f656f7e74ff2" /><Relationship Type="http://schemas.openxmlformats.org/officeDocument/2006/relationships/slide" Target="/ppt/slides/slide25.xml" Id="R009b6cc8151d475f" /><Relationship Type="http://schemas.openxmlformats.org/officeDocument/2006/relationships/slide" Target="/ppt/slides/slide26.xml" Id="R5560bbf7dc2f49fc" /><Relationship Type="http://schemas.openxmlformats.org/officeDocument/2006/relationships/slide" Target="/ppt/slides/slide27.xml" Id="R5bc79f07f73f46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5c7651e893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killBridge Warm Light">
      <a:dk1>
        <a:srgbClr val="2C2A28"/>
      </a:dk1>
      <a:lt1>
        <a:srgbClr val="FFFFFF"/>
      </a:lt1>
      <a:dk2>
        <a:srgbClr val="6F6760"/>
      </a:dk2>
      <a:lt2>
        <a:srgbClr val="FFF8F0"/>
      </a:lt2>
      <a:accent1>
        <a:srgbClr val="E9684A"/>
      </a:accent1>
      <a:accent2>
        <a:srgbClr val="E59A22"/>
      </a:accent2>
      <a:accent3>
        <a:srgbClr val="2D776D"/>
      </a:accent3>
      <a:accent4>
        <a:srgbClr val="927052"/>
      </a:accent4>
      <a:accent5>
        <a:srgbClr val="6D8B7B"/>
      </a:accent5>
      <a:accent6>
        <a:srgbClr val="D17A5C"/>
      </a:accent6>
      <a:hlink>
        <a:srgbClr val="2D776D"/>
      </a:hlink>
      <a:folHlink>
        <a:srgbClr val="E9684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killBridge Warm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f41d66cc71494d" /><Relationship Type="http://schemas.openxmlformats.org/officeDocument/2006/relationships/notesMaster" Target="/ppt/notesMasters/notesMaster1.xml" Id="R73d3332bdbe848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f3edb76514453" /><Relationship Type="http://schemas.openxmlformats.org/officeDocument/2006/relationships/notesMaster" Target="/ppt/notesMasters/notesMaster1.xml" Id="R6b8513936aee40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37df6a89c4793" /><Relationship Type="http://schemas.openxmlformats.org/officeDocument/2006/relationships/notesMaster" Target="/ppt/notesMasters/notesMaster1.xml" Id="R16a5b26d2dee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b5526c8594897" /><Relationship Type="http://schemas.openxmlformats.org/officeDocument/2006/relationships/notesMaster" Target="/ppt/notesMasters/notesMaster1.xml" Id="R8699dc4406f4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51097c4b4a4f54" /><Relationship Type="http://schemas.openxmlformats.org/officeDocument/2006/relationships/notesMaster" Target="/ppt/notesMasters/notesMaster1.xml" Id="Raa918924f7b8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3ec7622df4c21" /><Relationship Type="http://schemas.openxmlformats.org/officeDocument/2006/relationships/notesMaster" Target="/ppt/notesMasters/notesMaster1.xml" Id="R9457f8a700fd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9d0d2dd2a14b9d" /><Relationship Type="http://schemas.openxmlformats.org/officeDocument/2006/relationships/notesMaster" Target="/ppt/notesMasters/notesMaster1.xml" Id="Rca3ac946e543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cd1746eb3432f" /><Relationship Type="http://schemas.openxmlformats.org/officeDocument/2006/relationships/notesMaster" Target="/ppt/notesMasters/notesMaster1.xml" Id="Rda99b612a6444d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30044293c4adc" /><Relationship Type="http://schemas.openxmlformats.org/officeDocument/2006/relationships/notesMaster" Target="/ppt/notesMasters/notesMaster1.xml" Id="Rcde44137e5a84d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11649052f4667" /><Relationship Type="http://schemas.openxmlformats.org/officeDocument/2006/relationships/notesMaster" Target="/ppt/notesMasters/notesMaster1.xml" Id="Ra70290a709b541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ee3f5139c344d0" /><Relationship Type="http://schemas.openxmlformats.org/officeDocument/2006/relationships/notesMaster" Target="/ppt/notesMasters/notesMaster1.xml" Id="R2d48368d878e4b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69a368667541ec" /><Relationship Type="http://schemas.openxmlformats.org/officeDocument/2006/relationships/notesMaster" Target="/ppt/notesMasters/notesMaster1.xml" Id="Re863fc00af3644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38a97a406b44a4" /><Relationship Type="http://schemas.openxmlformats.org/officeDocument/2006/relationships/notesMaster" Target="/ppt/notesMasters/notesMaster1.xml" Id="R1c26d3d559cb44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8fda51fb0b4c02" /><Relationship Type="http://schemas.openxmlformats.org/officeDocument/2006/relationships/notesMaster" Target="/ppt/notesMasters/notesMaster1.xml" Id="Rc2d22a80e7b64a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5c41e6a7e1459a" /><Relationship Type="http://schemas.openxmlformats.org/officeDocument/2006/relationships/notesMaster" Target="/ppt/notesMasters/notesMaster1.xml" Id="Rc64b020ea5a04b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3c95b92caf4b50" /><Relationship Type="http://schemas.openxmlformats.org/officeDocument/2006/relationships/notesMaster" Target="/ppt/notesMasters/notesMaster1.xml" Id="Rc8f8f22c613142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5760a22bd04a91" /><Relationship Type="http://schemas.openxmlformats.org/officeDocument/2006/relationships/notesMaster" Target="/ppt/notesMasters/notesMaster1.xml" Id="R798148fa5bb449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acde8184464a38" /><Relationship Type="http://schemas.openxmlformats.org/officeDocument/2006/relationships/notesMaster" Target="/ppt/notesMasters/notesMaster1.xml" Id="R6f1f8f1c66894d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997bbaf9c642e0" /><Relationship Type="http://schemas.openxmlformats.org/officeDocument/2006/relationships/notesMaster" Target="/ppt/notesMasters/notesMaster1.xml" Id="Rffdc68d4dab149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c6fc5a623a4d75" /><Relationship Type="http://schemas.openxmlformats.org/officeDocument/2006/relationships/notesMaster" Target="/ppt/notesMasters/notesMaster1.xml" Id="Ra6ad19b8522e4f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b0af918dfe45be" /><Relationship Type="http://schemas.openxmlformats.org/officeDocument/2006/relationships/notesMaster" Target="/ppt/notesMasters/notesMaster1.xml" Id="R0bf3e41dd86f4d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3abd21572341cd" /><Relationship Type="http://schemas.openxmlformats.org/officeDocument/2006/relationships/notesMaster" Target="/ppt/notesMasters/notesMaster1.xml" Id="Rc2a4103ed9984e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9a813614754c6e" /><Relationship Type="http://schemas.openxmlformats.org/officeDocument/2006/relationships/notesMaster" Target="/ppt/notesMasters/notesMaster1.xml" Id="Rfd2a90e3355d43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05be65c317491c" /><Relationship Type="http://schemas.openxmlformats.org/officeDocument/2006/relationships/notesMaster" Target="/ppt/notesMasters/notesMaster1.xml" Id="Rba49927fb58f4b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9768df16b54499" /><Relationship Type="http://schemas.openxmlformats.org/officeDocument/2006/relationships/notesMaster" Target="/ppt/notesMasters/notesMaster1.xml" Id="R582edd006a6a48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df586906064be6" /><Relationship Type="http://schemas.openxmlformats.org/officeDocument/2006/relationships/notesMaster" Target="/ppt/notesMasters/notesMaster1.xml" Id="R1444826a24964a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0f60ffa2464869" /><Relationship Type="http://schemas.openxmlformats.org/officeDocument/2006/relationships/notesMaster" Target="/ppt/notesMasters/notesMaster1.xml" Id="R0a384a5c95e3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SkillBridge repository; academic details confirmed by the project team. Cover image is an original AI-generated illustration created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basis: app routes, profile and service types, and project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Confirmed decision: Agile Scrum. Specific sprint dates and outcomes are intentionally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basis: app routes, types/index.ts, API routes, and service libraries.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basis: middleware.ts, API routes, Supabase migrations, and docs. Performance numbers are not claimed because no measured benchmark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basis: app pages, API routes, service libraries, and project documentation. Future items are separately labelled.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app routes, API routes, payments routes, and Supabase-backed service libraries. Level 0 deliberately shows no internal processes.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profiles, services, orders, payments, messages, reviews, verification, and admin implementation files. Data flow labels are balanced with Level 0 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app/api/payments/create-order/route.ts and app/api/payments/verify/route.ts. This decomposes Level 1 process 3.0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implemented routes and role guards. Associations show supported interactions; no include or extend relationships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payment create-order and verify routes, service and order types, and Razorpay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seller authorization, services route, order transition route, and database-backed notifications.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types/index.ts and the latest Supabase migrations. This is a domain model, not a claim that the application uses class-based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from the order transition state machine. The consultation path can complete from accepted or in_progress; this activity focuses on fixed-scope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estimate derived from verified repository functionality. Function Point counts and low-complexity weights are stated assumptions, not measured production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estimate. Assumption: 53 LOC/FP for the TypeScript and JavaScript Next.js codebase. Basic COCOMO organic-mode formula used as a theoretical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Confirmed decision: responsibilities may be proposed only, and undocumented dates must not be presented as historical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skillbridge_blackbox_testing/reports/ppt_testing_evidence/SkillBridge_BlackBox_Testing_Evidence.md and junit_report.xml.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test artifacts. No executable code-coverage report or white-box execution record was found in the supplied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SkillBridge_PPT_Test_Cases.csv and authentic selected execution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selected test evidence and middleware.ts.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selected testing evidence and middleware.ts.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SkillBridge_PPT_Test_Cases.csv and selected test execution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junit_report.xml and SkillBridge_BlackBox_Testing_Evidence.md. Full baseline: 39 tests, 22 passed, 17 failed. Selected rerun: 9/9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images: skillbridge_blackbox_testing/test_results/ppt_evidence/01_invalid_login_execution.png and 05_selected_tests_summary.png.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basis: implementation, migrations, and authentic testing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Cover image is an original AI-generated illustration created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c69f6ddb24f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b2a1936a046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3be4a7edc47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d1f4f2a6549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cf867cd804a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a34f4bd43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0D8A65-1C21-4D94-B4A5-F32363904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AA6B94-BE31-4155-80AD-D4BB0523D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560D0B-6DA3-4C56-B955-F0B467A52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A29DBC-6449-4B12-B2FF-F04C7093D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74863B-3EC6-4254-99B4-A8DF59845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860588-E872-454D-A7F5-F20F78FF8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3756DC-6358-4304-977F-6B7739F91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4C6437-2ABE-41CC-A881-312F0C0AE6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7A90A3-7409-42C9-93EE-95D5EBCEA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122808-6F73-4AA1-9AA2-18F9CEE6B9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c0d649c4d45c4" /><Relationship Type="http://schemas.openxmlformats.org/officeDocument/2006/relationships/slideLayout" Target="/ppt/slideLayouts/slideLayout1.xml" Id="Rb137a15ae03f48b1" /><Relationship Type="http://schemas.openxmlformats.org/officeDocument/2006/relationships/slideLayout" Target="/ppt/slideLayouts/slideLayout2.xml" Id="R0c1c06455eb4444a" /><Relationship Type="http://schemas.openxmlformats.org/officeDocument/2006/relationships/slideLayout" Target="/ppt/slideLayouts/slideLayout3.xml" Id="R501c2ca2f4064fdb" /><Relationship Type="http://schemas.openxmlformats.org/officeDocument/2006/relationships/slideLayout" Target="/ppt/slideLayouts/slideLayout4.xml" Id="R517181c9aef04c1b" /><Relationship Type="http://schemas.openxmlformats.org/officeDocument/2006/relationships/slideLayout" Target="/ppt/slideLayouts/slideLayout5.xml" Id="R8fce588e9efe437e" /><Relationship Type="http://schemas.openxmlformats.org/officeDocument/2006/relationships/slideLayout" Target="/ppt/slideLayouts/slideLayout6.xml" Id="Rcce617292677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7a15ae03f48b1"/>
    <p:sldLayoutId xmlns:r="http://schemas.openxmlformats.org/officeDocument/2006/relationships" id="2147483650" r:id="R0c1c06455eb4444a"/>
    <p:sldLayoutId xmlns:r="http://schemas.openxmlformats.org/officeDocument/2006/relationships" id="2147483651" r:id="R501c2ca2f4064fdb"/>
    <p:sldLayoutId xmlns:r="http://schemas.openxmlformats.org/officeDocument/2006/relationships" id="2147483652" r:id="R517181c9aef04c1b"/>
    <p:sldLayoutId xmlns:r="http://schemas.openxmlformats.org/officeDocument/2006/relationships" id="2147483653" r:id="R8fce588e9efe437e"/>
    <p:sldLayoutId xmlns:r="http://schemas.openxmlformats.org/officeDocument/2006/relationships" id="2147483654" r:id="Rcce617292677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killBridge Warm Light">
      <a:dk1>
        <a:srgbClr val="2C2A28"/>
      </a:dk1>
      <a:lt1>
        <a:srgbClr val="FFFFFF"/>
      </a:lt1>
      <a:dk2>
        <a:srgbClr val="6F6760"/>
      </a:dk2>
      <a:lt2>
        <a:srgbClr val="FFF8F0"/>
      </a:lt2>
      <a:accent1>
        <a:srgbClr val="E9684A"/>
      </a:accent1>
      <a:accent2>
        <a:srgbClr val="E59A22"/>
      </a:accent2>
      <a:accent3>
        <a:srgbClr val="2D776D"/>
      </a:accent3>
      <a:accent4>
        <a:srgbClr val="927052"/>
      </a:accent4>
      <a:accent5>
        <a:srgbClr val="6D8B7B"/>
      </a:accent5>
      <a:accent6>
        <a:srgbClr val="D17A5C"/>
      </a:accent6>
      <a:hlink>
        <a:srgbClr val="2D776D"/>
      </a:hlink>
      <a:folHlink>
        <a:srgbClr val="E9684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killBridge Warm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5f811de12424c" /><Relationship Type="http://schemas.openxmlformats.org/officeDocument/2006/relationships/image" Target="/ppt/media/image.png" Id="Rb598c2f07ead4d43" /><Relationship Type="http://schemas.openxmlformats.org/officeDocument/2006/relationships/notesSlide" Target="/ppt/notesSlides/notesSlide1.xml" Id="Rfdcdf78e302f42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4ada3c6fb487d" /><Relationship Type="http://schemas.openxmlformats.org/officeDocument/2006/relationships/notesSlide" Target="/ppt/notesSlides/notesSlide2.xml" Id="R412856976ba945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9c634ed6e4070" /><Relationship Type="http://schemas.openxmlformats.org/officeDocument/2006/relationships/notesSlide" Target="/ppt/notesSlides/notesSlide3.xml" Id="R1012d48821b5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9528383554c78" /><Relationship Type="http://schemas.openxmlformats.org/officeDocument/2006/relationships/notesSlide" Target="/ppt/notesSlides/notesSlide4.xml" Id="R4df4bcc546b947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6dbcc178c4f16" /><Relationship Type="http://schemas.openxmlformats.org/officeDocument/2006/relationships/notesSlide" Target="/ppt/notesSlides/notesSlide5.xml" Id="R31704c7a46b9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50e64b2534d87" /><Relationship Type="http://schemas.openxmlformats.org/officeDocument/2006/relationships/notesSlide" Target="/ppt/notesSlides/notesSlide6.xml" Id="R7c2a1f67398346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fdfad85a54323" /><Relationship Type="http://schemas.openxmlformats.org/officeDocument/2006/relationships/notesSlide" Target="/ppt/notesSlides/notesSlide7.xml" Id="R187327767cf4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a42b5be134017" /><Relationship Type="http://schemas.openxmlformats.org/officeDocument/2006/relationships/notesSlide" Target="/ppt/notesSlides/notesSlide8.xml" Id="R8969d65e921343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105c270854d73" /><Relationship Type="http://schemas.openxmlformats.org/officeDocument/2006/relationships/notesSlide" Target="/ppt/notesSlides/notesSlide9.xml" Id="R6cfe98159c9140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1918816874e5a" /><Relationship Type="http://schemas.openxmlformats.org/officeDocument/2006/relationships/notesSlide" Target="/ppt/notesSlides/notesSlide10.xml" Id="Rc3ff0552b55d4f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3876cdbb140c9" /><Relationship Type="http://schemas.openxmlformats.org/officeDocument/2006/relationships/notesSlide" Target="/ppt/notesSlides/notesSlide11.xml" Id="Rd62ef79729654c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963857c874b9a" /><Relationship Type="http://schemas.openxmlformats.org/officeDocument/2006/relationships/notesSlide" Target="/ppt/notesSlides/notesSlide12.xml" Id="R8087288a6c9d48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772dac8bf48ea" /><Relationship Type="http://schemas.openxmlformats.org/officeDocument/2006/relationships/notesSlide" Target="/ppt/notesSlides/notesSlide13.xml" Id="R89ad19342bc945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97f3ddc494b48" /><Relationship Type="http://schemas.openxmlformats.org/officeDocument/2006/relationships/notesSlide" Target="/ppt/notesSlides/notesSlide14.xml" Id="Red78726d3ce049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ed297d47342c2" /><Relationship Type="http://schemas.openxmlformats.org/officeDocument/2006/relationships/notesSlide" Target="/ppt/notesSlides/notesSlide15.xml" Id="R5e4d232d3b3046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191d866ca4411" /><Relationship Type="http://schemas.openxmlformats.org/officeDocument/2006/relationships/notesSlide" Target="/ppt/notesSlides/notesSlide16.xml" Id="R4320c56e586046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3f863292a45c4" /><Relationship Type="http://schemas.openxmlformats.org/officeDocument/2006/relationships/notesSlide" Target="/ppt/notesSlides/notesSlide17.xml" Id="Rf89491c3043f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eb5ab1f604d85" /><Relationship Type="http://schemas.openxmlformats.org/officeDocument/2006/relationships/notesSlide" Target="/ppt/notesSlides/notesSlide18.xml" Id="R197f314b0fe943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bc7cf91a34043" /><Relationship Type="http://schemas.openxmlformats.org/officeDocument/2006/relationships/notesSlide" Target="/ppt/notesSlides/notesSlide19.xml" Id="Rcc50dddf4a784a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4b1c8b0cb4344" /><Relationship Type="http://schemas.openxmlformats.org/officeDocument/2006/relationships/notesSlide" Target="/ppt/notesSlides/notesSlide20.xml" Id="R9c2ef22514774b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ab93b0205431d" /><Relationship Type="http://schemas.openxmlformats.org/officeDocument/2006/relationships/notesSlide" Target="/ppt/notesSlides/notesSlide21.xml" Id="R46c7ada59ea047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363bba90144d6" /><Relationship Type="http://schemas.openxmlformats.org/officeDocument/2006/relationships/notesSlide" Target="/ppt/notesSlides/notesSlide22.xml" Id="R8aa4c1ecb65849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e8d8583704e31" /><Relationship Type="http://schemas.openxmlformats.org/officeDocument/2006/relationships/notesSlide" Target="/ppt/notesSlides/notesSlide23.xml" Id="R99efe1e6ddc04b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6f8bf589848ea" /><Relationship Type="http://schemas.openxmlformats.org/officeDocument/2006/relationships/notesSlide" Target="/ppt/notesSlides/notesSlide24.xml" Id="R4dac8d2497eb40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415c89fb64e3d" /><Relationship Type="http://schemas.openxmlformats.org/officeDocument/2006/relationships/image" Target="/ppt/media/image2.png" Id="R45e9f1bfb1404c2e" /><Relationship Type="http://schemas.openxmlformats.org/officeDocument/2006/relationships/image" Target="/ppt/media/image3.png" Id="R587ea06d50f5430e" /><Relationship Type="http://schemas.openxmlformats.org/officeDocument/2006/relationships/notesSlide" Target="/ppt/notesSlides/notesSlide25.xml" Id="R4d3202585b374a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1334c8a854c90" /><Relationship Type="http://schemas.openxmlformats.org/officeDocument/2006/relationships/notesSlide" Target="/ppt/notesSlides/notesSlide26.xml" Id="Ra12c19c3a8954c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b684612724d25" /><Relationship Type="http://schemas.openxmlformats.org/officeDocument/2006/relationships/image" Target="/ppt/media/image4.png" Id="Rf3b3efe28e1a4749" /><Relationship Type="http://schemas.openxmlformats.org/officeDocument/2006/relationships/notesSlide" Target="/ppt/notesSlides/notesSlide27.xml" Id="R3f7b836569e1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3A6DB-F61C-4610-842A-408AC9C9B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8c2f07ead4d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DE970-1530-47B2-A33D-C04566E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0">
            <a:solidFill>
              <a:srgbClr val="FFF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81353-27B2-4D2B-AC94-1B1613C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095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ACADEMIC PROJECT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D6CEC-14DF-4FA7-B22C-298DC8A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5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4500" b="1" i="0">
                <a:solidFill>
                  <a:srgbClr val="2C2A28"/>
                </a:solidFill>
              </a:defRPr>
            </a:pPr>
            <a:r>
              <a:rPr sz="4500" b="1" i="0">
                <a:solidFill>
                  <a:srgbClr val="2C2A28"/>
                </a:solidFill>
              </a:rPr>
              <a:t>SkillBridge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DAFC-D051-44A5-95C6-DFBC986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141"/>
          </a:bodyPr>
          <a:lstStyle xmlns:a="http://schemas.openxmlformats.org/drawingml/2006/main">
            <a:defPPr>
              <a:defRPr sz="19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950" b="0" i="0">
                <a:solidFill>
                  <a:srgbClr val="6F6760"/>
                </a:solidFill>
              </a:defRPr>
            </a:pPr>
            <a:r>
              <a:rPr sz="1950" b="0" i="0">
                <a:solidFill>
                  <a:srgbClr val="6F6760"/>
                </a:solidFill>
              </a:rPr>
              <a:t>A verified campus marketplace for student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F730F-7852-40F9-8C6C-C9BC78C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9A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945E7-ECA5-45E5-A0C6-EB36C992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Software Engineering and Modeling</a:t>
            </a:r>
          </a:p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MIT World Peace University (MIT-WPU)</a:t>
            </a:r>
          </a:p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Computer Science and Engineering  |  Semester V  |  2026–2027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E1614-75BF-4781-8DBE-9FB3B31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Soham Patil   ·   Ganesh Gaikwad</a:t>
            </a:r>
          </a:p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Aditya Sardesai   ·   Tirth Gangani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26CFB-E07E-40CC-8355-5D0A1654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F6760"/>
                </a:solidFill>
              </a:defRPr>
            </a:pPr>
            <a:r>
              <a:rPr sz="1050" b="0" i="0">
                <a:solidFill>
                  <a:srgbClr val="6F6760"/>
                </a:solidFill>
              </a:rPr>
              <a:t>Faculty Guide: Dr. Bhavana Tiple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A4C05-3471-461A-85DC-6FF8702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484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6291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9F0FD-BB77-4C41-BE8A-A50F2F9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CD87-A61F-4F4D-BA55-F2BED249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4F653-8787-4D9E-A4FA-7E9B5F96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The campus service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F82E-D349-4BDB-998C-C616EBA4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7720A-ADE0-45AA-90EC-16F7F2A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EA587-9C0D-45AE-96B3-D928BF1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18A-BD0E-496E-AFB3-0C54CFB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2C2A28"/>
                </a:solidFill>
              </a:defRPr>
            </a:pPr>
            <a:r>
              <a:rPr sz="1875" b="1" i="0">
                <a:solidFill>
                  <a:srgbClr val="2C2A28"/>
                </a:solidFill>
              </a:rPr>
              <a:t>Students have skills to offer, but campus buyers need a trusted way to discover, book, and complete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0247E-0364-4B4C-83EB-2D5A5C14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F1227-82EF-422A-9CA4-06A22613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Discovery is fragmented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58CF-579C-4395-8636-93DAFB33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7432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Buyers may rely on informal groups or referrals to find tutoring, design, technical, or creative help.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92F09-31F8-47E3-B117-3E0F3C8B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ED68E-A0FD-4170-B1D7-6DD2D6D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Trust needs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FE9EC-3D95-4E34-9CD0-CC37F32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27432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The implementation adds student verification, seller role controls, order history, and transaction-backed reviews.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52196-69FA-4988-A90A-13D47B3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76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A23FC-E62D-45AF-A317-00502E0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098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Service delivery needs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9EB15-6AAB-4BEA-AEF2-7542E6C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27432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Listings, checkout, order milestones, private messaging, delivery review, and payment status are recorded in the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86792-185D-45A5-8C25-24F0E30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6F6760"/>
                </a:solidFill>
              </a:defRPr>
            </a:pPr>
            <a:r>
              <a:rPr sz="1425" b="0" i="0">
                <a:solidFill>
                  <a:srgbClr val="6F6760"/>
                </a:solidFill>
              </a:rPr>
              <a:t>SkillBridge addresses these gaps through a campus-focused web marketplace with buyer, seller, and administrator workflows.</a:t>
            </a:r>
          </a:p>
        </p:txBody>
      </p:sp>
    </p:spTree>
    <p:extLst>
      <p:ext uri="{BB962C8B-B14F-4D97-AF65-F5344CB8AC3E}">
        <p14:creationId xmlns:p14="http://schemas.microsoft.com/office/powerpoint/2010/main" val="1374170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616B2-AF6A-475D-8D11-3E192CFF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1DA6-3E09-4613-BA3C-78A6C881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C64C5-EE79-4F99-A673-0D015F6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Development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E3DCB-0807-4445-BA8C-196AE42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C56AC-7F62-46BF-B951-B9FE8B0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07BBE-6AF2-406C-A216-5232A17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32BB5-15BE-4B9A-9AD0-9ED0269B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7267"/>
          </a:bodyPr>
          <a:lstStyle xmlns:a="http://schemas.openxmlformats.org/drawingml/2006/main">
            <a:defPPr>
              <a:defRPr sz="150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2C2A28"/>
                </a:solidFill>
              </a:defRPr>
            </a:pPr>
            <a:r>
              <a:rPr sz="1500" b="0" i="0">
                <a:solidFill>
                  <a:srgbClr val="2C2A28"/>
                </a:solidFill>
              </a:rPr>
              <a:t>Agile Scrum supports short development cycles for a product with interconnected authentication, marketplace, payment, and governance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A469-27D5-4E72-B141-36E0B03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7907A-8B75-43F4-AD4D-2D90C29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Backlog and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DBD66-FB87-4FED-8433-F4B5D4F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09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E59A22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E59A22"/>
                </a:solidFill>
              </a:defRPr>
            </a:pPr>
            <a:r>
              <a:rPr sz="1800" b="1" i="0">
                <a:solidFill>
                  <a:srgbClr val="E59A2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D7A61-3ECE-4039-A1C4-9C07D89B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B896-991E-4284-8EBD-8D65D7B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C06E9-7725-481E-9667-4626402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Design and implement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F2383-F6CE-494D-B5CB-3678970E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E9684A"/>
                </a:solidFill>
              </a:defRPr>
            </a:pPr>
            <a:r>
              <a:rPr sz="1800" b="1" i="0">
                <a:solidFill>
                  <a:srgbClr val="E9684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0851E-2D32-4DC2-88C3-19B4F6C8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8D84E-96D7-4EFE-A6D2-2FBEF826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4B109-5739-4466-A0F0-269D40E4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Integrate and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5E12F-703F-4654-9931-81A97B1D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E59A22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E59A22"/>
                </a:solidFill>
              </a:defRPr>
            </a:pPr>
            <a:r>
              <a:rPr sz="1800" b="1" i="0">
                <a:solidFill>
                  <a:srgbClr val="E59A22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1B698-B69B-418A-B8C8-83D8E97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818FC-BC49-49EA-9880-028F256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CCF01-7BF1-4FD2-BBE3-9828431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Review and refine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0CC3A-ACC2-4AF4-B3F1-F9211B48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09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E59A22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E59A22"/>
                </a:solidFill>
              </a:defRPr>
            </a:pPr>
            <a:r>
              <a:rPr sz="1800" b="1" i="0">
                <a:solidFill>
                  <a:srgbClr val="E59A22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04B5A-2C39-404C-B81F-7C0F4FE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F6760"/>
                </a:solidFill>
              </a:defRPr>
            </a:pPr>
            <a:r>
              <a:rPr sz="1200" b="0" i="1">
                <a:solidFill>
                  <a:srgbClr val="6F6760"/>
                </a:solidFill>
              </a:rPr>
              <a:t>The deck describes Agile Scrum as the selected methodology. It does not infer sprint calendars, attendance, or retrospective results.</a:t>
            </a:r>
          </a:p>
        </p:txBody>
      </p:sp>
    </p:spTree>
    <p:extLst>
      <p:ext uri="{BB962C8B-B14F-4D97-AF65-F5344CB8AC3E}">
        <p14:creationId xmlns:p14="http://schemas.microsoft.com/office/powerpoint/2010/main" val="2007156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69DFA-3231-43C7-9C09-CE4B03E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E0396-E04F-41A6-92A6-47C5469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ABE8C-246F-408B-9560-2F21F4C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Scope and 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21316-D162-48C5-AF85-EF92DC9C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09289-1DBD-46AD-A65C-B7C27F29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990A3-D187-43F0-80B4-A1CA78C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6B052-5AB0-4D63-8863-610A20656852}"/>
              </a:ext>
            </a:extLst>
          </p:cNvPr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1010900" cy="3714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5505450"/>
                <a:gridCol w="5505450"/>
              </a:tblGrid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Verified capability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Common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Register, authenticate, verify email, complete profile, switch buyer or seller role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Buyer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Explore published listings, use search and filters, create orders, pay in test mode, message seller, approve delivery, submit review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Seller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Create and manage listings, configure availability, receive and progress orders, submit deliverables, view earnings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Administrator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Review verification requests, moderate listings and reviews, view orders, users, metrics, and audit logs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765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517AA-228E-4D33-BF8D-ECBB499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C8DEF-0DDB-4CC0-A443-0EE2C11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8D146-4982-46F8-8B20-DEF456D7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Non-functional requirements and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4DB5A-2BDE-42B8-9779-D9F79B0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C20F3-4956-4938-BB7E-44D10F61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16D6C-B6CC-445D-AD95-673F5140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9A53F-73BA-4676-AE11-EEE34868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4831-2C40-4966-8FDB-D49A1687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Security controls in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E8BF2-0193-4408-8274-DFF2E0B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29813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Supabase authentication, protected routes, server-side role checks, RLS policies, participant-only order messages, and review eligibility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7B74D-3FCC-4540-B014-A1B87D76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888AD-B8B7-4B9F-83A5-0D4CFC3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04975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Usability and compatibility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93865-B1A3-4AA2-B321-69B663C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28825"/>
            <a:ext cx="29813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Responsive Next.js interface with browser form validation, route return parameters, clear empty states, notifications, and buyer/seller workspaces.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724CD-C17C-4D60-B0E0-E4E583F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71625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6D6D6-B186-48C4-AEBA-9AD07E7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04975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Operational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D5217-3742-47F2-AAA9-119E8E3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28825"/>
            <a:ext cx="29813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Razorpay operates in test mode. AI search and transactional email have configuration-dependent fallbacks. No availability or response-time target is reported.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BFC25-1AA3-47DF-8387-1E9C3CF5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95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F6760"/>
                </a:solidFill>
              </a:defRPr>
            </a:pPr>
            <a:r>
              <a:rPr sz="1200" b="0" i="1">
                <a:solidFill>
                  <a:srgbClr val="6F6760"/>
                </a:solidFill>
              </a:rPr>
              <a:t>Claims above describe implementation controls or explicit constraints, not measured production service levels.</a:t>
            </a:r>
          </a:p>
        </p:txBody>
      </p:sp>
    </p:spTree>
    <p:extLst>
      <p:ext uri="{BB962C8B-B14F-4D97-AF65-F5344CB8AC3E}">
        <p14:creationId xmlns:p14="http://schemas.microsoft.com/office/powerpoint/2010/main" val="66798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AD038-00C8-49E8-A3F4-20BE02C2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E7C0E-7DFE-436D-BAAB-B60D883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02586-F8B5-4372-B59B-077E89B4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Current capabilities and project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E6641-04C5-4E4F-A261-00065CE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317F8-C219-4DB0-A474-F95C2D4D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68CC9-3E38-491F-9799-C71DA380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1BB82-7F9D-4788-B341-86B9250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C2A28"/>
                </a:solidFill>
              </a:defRPr>
            </a:pPr>
            <a:r>
              <a:rPr sz="1575" b="1" i="0">
                <a:solidFill>
                  <a:srgbClr val="2C2A28"/>
                </a:solidFill>
              </a:rPr>
              <a:t>Implemented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A4D9D-118A-4227-9BE5-3277D735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5037-AF8C-4119-BCAD-98B0B791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Student account and verification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8B492-C1DD-4808-83D8-4138E31F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59DF2-AF59-43E1-9346-59ADE66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Buyer and seller modes within one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4732-7A01-4989-A08D-1BE662D2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3B1D3-BCE3-48FA-B699-46A622C7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Published service listings with availability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D967-A2D0-4B98-9E2B-83F96F7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AB7FD-6A00-447E-BF8D-2D9893F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Order lifecycle, escrow-style test payments, delivery and reviews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46ADF-CB21-4AC4-B3BB-33DD30D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86669-6785-4E94-BA2C-168F7B5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Private order messaging and 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0D33D-BB37-477D-AE33-7778596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31C49-1BEA-4363-867D-ED4B5827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C2A28"/>
                </a:solidFill>
              </a:defRPr>
            </a:pPr>
            <a:r>
              <a:rPr sz="1275" b="0" i="0">
                <a:solidFill>
                  <a:srgbClr val="2C2A28"/>
                </a:solidFill>
              </a:rPr>
              <a:t>Administrative moderation and audit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A1893-2E8A-4145-A7A4-6C91594A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FAF07-6936-4B07-9B98-EA4C20B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11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206"/>
          </a:bodyPr>
          <a:lstStyle xmlns:a="http://schemas.openxmlformats.org/drawingml/2006/main">
            <a:defPPr>
              <a:defRPr sz="15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C2A28"/>
                </a:solidFill>
              </a:defRPr>
            </a:pPr>
            <a:r>
              <a:rPr sz="1575" b="1" i="0">
                <a:solidFill>
                  <a:srgbClr val="2C2A28"/>
                </a:solidFill>
              </a:rPr>
              <a:t>Future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7FC2B-88A6-4F5D-967C-4B9A2205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6F6760"/>
                </a:solidFill>
              </a:defRPr>
            </a:pPr>
            <a:r>
              <a:rPr sz="1350" b="0" i="0">
                <a:solidFill>
                  <a:srgbClr val="6F6760"/>
                </a:solidFill>
              </a:rPr>
              <a:t>• Live payment onboarding beyond test mode</a:t>
            </a:r>
          </a:p>
          <a:p xmlns:a="http://schemas.openxmlformats.org/drawingml/2006/main">
            <a:pPr>
              <a:defRPr sz="1350" b="0" i="0">
                <a:solidFill>
                  <a:srgbClr val="6F6760"/>
                </a:solidFill>
              </a:defRPr>
            </a:pPr>
            <a:r>
              <a:rPr sz="1350" b="0" i="0">
                <a:solidFill>
                  <a:srgbClr val="6F6760"/>
                </a:solidFill>
              </a:rPr>
              <a:t>• Production email domain verification</a:t>
            </a:r>
          </a:p>
          <a:p xmlns:a="http://schemas.openxmlformats.org/drawingml/2006/main">
            <a:pPr>
              <a:defRPr sz="1350" b="0" i="0">
                <a:solidFill>
                  <a:srgbClr val="6F6760"/>
                </a:solidFill>
              </a:defRPr>
            </a:pPr>
            <a:r>
              <a:rPr sz="1350" b="0" i="0">
                <a:solidFill>
                  <a:srgbClr val="6F6760"/>
                </a:solidFill>
              </a:rPr>
              <a:t>• NVIDIA key configuration for AI-enhanced rankings</a:t>
            </a:r>
          </a:p>
          <a:p xmlns:a="http://schemas.openxmlformats.org/drawingml/2006/main">
            <a:pPr>
              <a:defRPr sz="1350" b="0" i="0">
                <a:solidFill>
                  <a:srgbClr val="6F6760"/>
                </a:solidFill>
              </a:defRPr>
            </a:pPr>
            <a:r>
              <a:rPr sz="1350" b="0" i="0">
                <a:solidFill>
                  <a:srgbClr val="6F6760"/>
                </a:solidFill>
              </a:rPr>
              <a:t>• Continued accessibility and performance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12ADB-E671-4B3B-8984-283BB664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E9684A"/>
                </a:solidFill>
              </a:defRPr>
            </a:pPr>
            <a:r>
              <a:rPr sz="1350" b="1" i="0">
                <a:solidFill>
                  <a:srgbClr val="E9684A"/>
                </a:solidFill>
              </a:rPr>
              <a:t>The product supports a structured peer-service exchange while preserving role boundaries and a traceable order record.</a:t>
            </a:r>
          </a:p>
        </p:txBody>
      </p:sp>
    </p:spTree>
    <p:extLst>
      <p:ext uri="{BB962C8B-B14F-4D97-AF65-F5344CB8AC3E}">
        <p14:creationId xmlns:p14="http://schemas.microsoft.com/office/powerpoint/2010/main" val="60260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4F695-A722-4857-8D49-CBEAA3FE07BA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 flipV="1">
            <a:off x="7334250" y="3405188"/>
            <a:ext cx="1666875" cy="1595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BAAB7-9027-4520-A1D7-E6CAFEA8C76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334250" y="3405188"/>
            <a:ext cx="1666875" cy="1595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2BEC8-438D-4AFC-AB7E-EF50F7043C9B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334250" y="3133725"/>
            <a:ext cx="3048000" cy="2714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B98B5-413E-4DD6-A5B7-7B0216E8446C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600200" y="3405188"/>
            <a:ext cx="3257550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308B7-6588-4A86-97E3-8E09833D347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600200" y="3405188"/>
            <a:ext cx="3257550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1E92E-1CCD-4507-87BE-F2402725C24F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1600200" y="3133725"/>
            <a:ext cx="3257550" cy="2714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1CF28-F4F3-4636-B9D8-56902EF37E2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600200" y="3133725"/>
            <a:ext cx="3257550" cy="2714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531EA-3175-40EA-8DC3-DBA3257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81F53-FD27-4368-9D0D-C29F46BB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32CE-61DC-47A6-9BFA-224EDEB3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Data Flow Diagram: Level 0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0E977-9488-4E81-AFAA-8E5A6663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C2B82-24DB-4C43-AE89-EEE09DA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18CE-8333-4E55-B311-FAE121AC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628E3-71AB-4E1F-9F52-43738C1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36BC1-4A12-4B68-A020-AFBC57A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29BC-CE43-4276-A63A-B0137873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C25CA-8C20-43E1-B9D3-AF2F7CB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29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C059A-119E-4098-B814-CE8D2C2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69A90-2061-499A-B168-1D8D9DF1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Seller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BEB8-D34B-48DA-8BAD-E57C471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36E12-EE07-4692-A578-7A89D47E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95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82437-D269-43D8-B888-C0A1DF3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38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18202-2FC7-4EFC-9D27-309B8AC7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EBB72-89E5-4F51-B7D6-0EB2A68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0. SkillBridge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0C8D6-22D7-45D3-B850-9E35BFF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28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Campus service marketplace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FDC30-9F79-47F1-BD47-420A9E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672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AAAA6-96AD-40C2-9EBF-54C230B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720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Razorpay Test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BFE8-B2A2-44FE-A8A0-8754A010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387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Payment order and signature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D0AA0-9969-4410-80AA-20C1362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search, order,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74523-E56D-4C11-82C4-EA9CCFCB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99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listings, status, messages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16423-1158-499A-A874-FCF3361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863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listing, availability, 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0357A-55F0-4234-8D49-316CF76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orders, notification, earnings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AB21C-ED90-4499-8772-F3E91A4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051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moderation and review 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E5ACC-9E46-4995-803A-8CCF899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create order and verify signature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F7BBEE-01AA-46E8-94DF-93A10F8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9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payment result</a:t>
            </a:r>
          </a:p>
        </p:txBody>
      </p:sp>
    </p:spTree>
    <p:extLst>
      <p:ext uri="{BB962C8B-B14F-4D97-AF65-F5344CB8AC3E}">
        <p14:creationId xmlns:p14="http://schemas.microsoft.com/office/powerpoint/2010/main" val="2109335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00506-5C0A-464A-89A2-FBB3F3D484B9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6667500" y="4048125"/>
            <a:ext cx="12382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39BD74-6F61-4D5C-B18B-5DD5B53F5C5E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6667500" y="2876550"/>
            <a:ext cx="123825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F5DE4-9606-4528-B3ED-FF16B86D241F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6667500" y="1638300"/>
            <a:ext cx="1238250" cy="2409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AAA416-0B07-4130-8F91-5BF46C8EB69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4000500" y="4048125"/>
            <a:ext cx="39052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CFCD3E-29AE-4C9F-90A8-6CEC1415374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6667500" y="1905000"/>
            <a:ext cx="12382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E39215-EEEE-4A0C-AC24-A8044F36A97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4000500" y="1638300"/>
            <a:ext cx="39052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04F70B-6414-497F-B8D2-D23208F64024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6667500" y="3267075"/>
            <a:ext cx="40005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73069-30D0-4E81-8B1D-F45B4B1BB22D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000500" y="4048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6F13A-CF43-4899-9FAE-1C4E7477A1C3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3048000" y="2238375"/>
            <a:ext cx="266700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D3E0BB-30D9-4D8E-B669-9FFC39A611E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00500" y="1905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43F9D-8EE2-4BAF-A60E-CC337BF9F77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257300" y="1905000"/>
            <a:ext cx="83820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965A1B-A327-4A33-A982-5D1D1EF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17087-FD75-4715-97E5-443ED8C9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DC553-7E32-4117-8CDF-95D0E92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Data Flow Diagram: Level 1 decomposition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0008E-BC27-4E98-8283-55F2CEA8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B5DB-168D-4353-90F4-009766D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1A5A9-67F7-459D-92E4-F7C723E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F7BC5-9D74-4AA6-BB84-E784BD9B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89D19-C3B6-406C-BD72-D198929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57813-A19B-460A-87BA-2DD918B1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718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53536-EA33-430C-BCB3-6A151651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BFFE2-FB70-48EC-BA60-D0E37F8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289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5CE73-5475-4D97-9694-7AA2D3E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718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DFAE0-7C26-4195-9860-ECC3B75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9EA32-D642-4B8F-BD46-8E7370AB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1.0 Identity and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5E241-A8E5-47E9-8B7C-B305236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43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auth, profile,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681C7-9698-4FCE-954E-7D8C75A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54C45-E615-499A-821A-BF19D2B6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764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2.0 Marketplace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1C977-2D0D-4E50-82D2-2F011A9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43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listing, search, 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F2BBC-706C-4E3B-9E5D-97B09BBA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6213D-C35E-4DB7-B648-F67D966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9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3.0 Orders and 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692CC-D9CE-44EA-A6D9-EDD9B883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86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checkout, delivery,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56A29-1B3A-4CAB-9247-E94EFEDB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6FCC7-16F2-45C4-972D-A2DC3EC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9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4.0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3DAD4-79D9-4F47-88B9-A83EBC12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verification, moderation,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D9737-A663-4104-9A64-8D37EEB6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2047875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12383">
            <a:solidFill>
              <a:srgbClr val="2D77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35404-B583-46D9-A330-E47B6B5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D1 Profiles and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4972E-9031-49FD-A305-A50110E1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2047875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12383">
            <a:solidFill>
              <a:srgbClr val="2D77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6E076-698B-4549-8367-8F9754F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D2 Services and availability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12E47A-8060-4981-AE5F-CEED7F90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524125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12383">
            <a:solidFill>
              <a:srgbClr val="2D77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40460-9031-458F-99CA-C97DEFD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D3 Orders, payments, messages, reviews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F41A0F-E25A-404A-9F61-8EFAA7F5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990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registration 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1ACCC7-A004-4EC1-BA69-96F9496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role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670C38-82AC-4922-8076-AF2C4440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0375"/>
            <a:ext cx="904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order request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D5A06D-6298-44C1-AC6E-B1C43F0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9550"/>
            <a:ext cx="857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review decisions</a:t>
            </a:r>
          </a:p>
        </p:txBody>
      </p:sp>
    </p:spTree>
    <p:extLst>
      <p:ext uri="{BB962C8B-B14F-4D97-AF65-F5344CB8AC3E}">
        <p14:creationId xmlns:p14="http://schemas.microsoft.com/office/powerpoint/2010/main" val="406740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21C7FA-D5CA-4785-9147-7D0BACC02E1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4" idx="4"/>
          </p:cNvCxnSpPr>
          <p:nvPr/>
        </p:nvCxnSpPr>
        <p:spPr>
          <a:xfrm xmlns:a="http://schemas.openxmlformats.org/drawingml/2006/main" flipH="1">
            <a:off x="6858000" y="2143125"/>
            <a:ext cx="3357563" cy="2305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4BDCD-1C4B-4949-9943-E01609EF2775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7667625" y="2143125"/>
            <a:ext cx="785813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dash"/>
            <a:head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9FE65-75D6-4ADB-9427-DC3621FBADDA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67625" y="2143125"/>
            <a:ext cx="785813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C0560-E7FE-4FA1-96A8-4C49EC67FE26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191125" y="2143125"/>
            <a:ext cx="66675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EAC1D-58D1-42D0-8F5E-1F823B8A9EE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714625" y="2143125"/>
            <a:ext cx="47625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2C1E75-D665-41A4-81C8-E736BDF16DA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72500" y="1833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8AD924-06AC-41E5-9AD6-3B7BECDCE2A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096000" y="1833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4749A-E19B-4591-A06C-3EB328DE03A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19500" y="1833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1AF8A-AD31-43AE-B029-F53AB8017C2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200150" y="1833563"/>
            <a:ext cx="609600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29B11F-6521-4E59-AEFE-21071B0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0E6F0-B01B-476D-88BB-828B5BC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53D5B-C889-4059-9AB2-67004AA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Data Flow Diagram: Level 2 checkout and payment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1DF1C-E002-4835-B999-77D16F7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C443E-43B9-4FD2-BC78-463685C2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C7181-6C76-4429-BB15-1EFA1E9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7F2ED-B531-4B99-A798-938C02D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1ED08-0F51-4D7E-A801-1BBDADF3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BAC0F-265E-449D-9768-83C51162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242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F65C1-1767-4104-899E-78124F39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F5C3D-8270-4E75-A23B-8C1FA73F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287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372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3.1 Validate buyer and listing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1ACD1-DADE-4D3C-BDAD-849A3B26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95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session, UUID, published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87839-F81A-48CE-98B0-FFE26AA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29C27-B66D-4BFF-9346-97FB8F9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287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991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3.2 Create payment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AD18D-8080-4F76-A860-AA9E6981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95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server price and order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264EF-8395-4DE4-97B8-C78F8BD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55FF1-2129-4E4C-A09A-A40A1C9E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3.3 Verify signature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EABE3-2917-4035-929E-322F4AC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95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payment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FE626-79BA-4373-AB71-5D9BBFA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1952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25933-EF7B-4DC1-8F85-6A6ECBE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287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084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3.4 Update status and notify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E07B5-411D-45B0-BF2A-8D9BA6F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954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seller_pending and notification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79E1B-DA73-4111-A939-DFABCCE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1524000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12383">
            <a:solidFill>
              <a:srgbClr val="2D7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57C0C-74BF-4005-AB48-18A218A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52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D2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D29CF-6624-4C38-B152-27DBD8A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2000250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12383">
            <a:solidFill>
              <a:srgbClr val="2D7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01C58-25CA-4490-9F2E-61B8606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52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D3 Orders and payments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C9734-23F7-4AF3-B4EB-909DC38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952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D662C-2A05-4634-A62A-A8BFACE4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480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Razorpay Test Mode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84C92-A133-48F9-AAAF-3D361EA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147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gateway order and signature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B0238-9211-4E25-90A0-13ED65B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checkout 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D9625B-C7B0-46A9-B0EC-BF91514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825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authenticated buyer + valid listing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63C36-5D2F-4ECB-BF35-5932B781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gateway order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03A11E-1958-4EEF-85DE-F129B44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907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815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verified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E1F23-B2E9-4331-AFF2-059B7D21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1">
                <a:solidFill>
                  <a:srgbClr val="B64938"/>
                </a:solidFill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B64938"/>
                </a:solidFill>
              </a:defRPr>
            </a:pPr>
            <a:r>
              <a:rPr sz="1200" b="0" i="1">
                <a:solidFill>
                  <a:srgbClr val="B64938"/>
                </a:solidFill>
              </a:rPr>
              <a:t>The API retrieves price and seller identity from the database; it does not accept a client-submitted amount.</a:t>
            </a:r>
          </a:p>
        </p:txBody>
      </p:sp>
    </p:spTree>
    <p:extLst>
      <p:ext uri="{BB962C8B-B14F-4D97-AF65-F5344CB8AC3E}">
        <p14:creationId xmlns:p14="http://schemas.microsoft.com/office/powerpoint/2010/main" val="1464815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A4B928-6E54-4F6A-BC88-81B6C2D86A73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9239250" y="3609975"/>
            <a:ext cx="13335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B756C-6545-47E0-9376-F3401850663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1362075" y="4152900"/>
            <a:ext cx="463867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15A6E-6E27-40A9-996F-5B45157716D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1362075" y="4152900"/>
            <a:ext cx="254317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189F1-29D7-4A24-AC4B-FB12AE3C7E7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1362075" y="2390775"/>
            <a:ext cx="58293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96B02-7CE6-4214-A86C-770E1E514F7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1362075" y="2390775"/>
            <a:ext cx="39719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E187F-2A87-4F4C-8FDA-9757DC84340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362075" y="2390775"/>
            <a:ext cx="216217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6760"/>
            </a:solidFill>
            <a:prstDash val="dash"/>
            <a:head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30D16-9238-428C-9529-3D6D9B8C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02F6-B494-4896-8C77-506424F2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4303-21D9-47CE-B29C-722F6E6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Use Case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AA961-1B16-47E1-9DC9-BF3E1FF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CFD4F-6FC0-4837-A486-14EC5B38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90227-0B4C-4A52-92F6-F65EA00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4D14F-6448-450F-96BA-550E6B2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52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A79C5-7237-4297-9582-3625D511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453D7-C556-4692-BD8F-382D727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194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086CA-B88F-435F-8010-6FE536B9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23B2D-4BE6-40D8-8C63-678D4212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DB0AC-3CF3-4093-8182-BBEC58A6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Seller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4EE20-DE61-4B4E-B6A5-21BCC17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2F55B-1C9E-4920-A3FF-725FA45A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718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3F8DF-3249-45BF-9951-74A1B89A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14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405B-4DA3-451F-B04D-4652281A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28750"/>
            <a:ext cx="6858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4860E-0C2A-423B-95E4-517F994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D776D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D776D"/>
                </a:solidFill>
              </a:defRPr>
            </a:pPr>
            <a:r>
              <a:rPr sz="975" b="1" i="0">
                <a:solidFill>
                  <a:srgbClr val="2D776D"/>
                </a:solidFill>
              </a:rPr>
              <a:t>SkillBridge system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7BA5B-1C1F-427B-B184-59255E1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23B4B-53F1-454A-A7FF-A0E57F39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Discover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CA555-934C-40D7-8968-1E2FC0C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43125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3263F-96CD-4DA7-826C-76DBA715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Checkout and track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75BBA-14DF-4EF5-BE86-C0FF0AA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43125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13B7E-6C37-4222-B1E6-3BC39B85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Message and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3B92A-D542-4FFB-B879-135EDAD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72D72-24D8-493D-A767-38EB8B5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67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Manage listings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5117B-4482-4232-93DA-D021F07B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BC3C7-F64F-420C-89E2-4915544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67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7042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Set availability and deliver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D74D8-2BA4-49B3-B87A-B2A21ADC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0DB65-F6C0-4808-9EAD-BFED48C4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7965"/>
          </a:bodyPr>
          <a:lstStyle xmlns:a="http://schemas.openxmlformats.org/drawingml/2006/main">
            <a:defPPr>
              <a:defRPr sz="9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2C2A28"/>
                </a:solidFill>
              </a:defRPr>
            </a:pPr>
            <a:r>
              <a:rPr sz="975" b="1" i="0">
                <a:solidFill>
                  <a:srgbClr val="2C2A28"/>
                </a:solidFill>
              </a:rPr>
              <a:t>Verify users and moderate platform</a:t>
            </a:r>
          </a:p>
        </p:txBody>
      </p:sp>
    </p:spTree>
    <p:extLst>
      <p:ext uri="{BB962C8B-B14F-4D97-AF65-F5344CB8AC3E}">
        <p14:creationId xmlns:p14="http://schemas.microsoft.com/office/powerpoint/2010/main" val="16685067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73B85D-DEB4-43E9-8FC9-597EA56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F19EC-4225-4911-8BF1-C1D0C2B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B2A97-5468-4A88-9B9A-B0E3945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Sequence Diagram: Buyer checkout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F189-5C8E-43F1-B6F3-2113EAA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4331E-E1F5-4814-8A7D-050CC0A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FEF5A-9763-45DE-85CB-C88BC21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24387-38DE-493C-88E5-334A64E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63CB-6E70-4B47-BDF6-902DDA12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973E4-DC59-44CD-BC28-09343E2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B7833-DBD9-49DF-83FA-F5BCA51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AD83A-2470-4013-B148-06BEDB7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Web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71EC-376A-4CCD-865B-111EEAB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FBCA1-50E3-4184-9D0D-28EDBCFD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1C6D8-69C0-4E7D-87C9-A4593801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Next.js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73597-0F44-44DF-B768-8E138F96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70AF7-D066-484F-AD28-3D860E2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CFBC3-18AE-4F13-84FB-1ECC4644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Supabase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292EA-2DF6-429A-9722-655464DC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4F273-C02A-4943-AF94-BC6511A4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03906-8714-4330-A781-BFB45B7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Razorpay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208E1-ADC9-40E0-8737-EE99B137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D887A-2003-4FE9-BF66-313FFBD463D9}"/>
              </a:ext>
            </a:extLst>
          </p:cNvPr>
          <p:cNvCxnSpPr/>
          <p:nvPr/>
        </p:nvCxnSpPr>
        <p:spPr>
          <a:xfrm xmlns:a="http://schemas.openxmlformats.org/drawingml/2006/main">
            <a:off x="1047750" y="2343150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62891-2CA7-4705-BA39-0CB117C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select published service and enter requirements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23987-A83D-4B4B-AE1F-C61B840CDBE3}"/>
              </a:ext>
            </a:extLst>
          </p:cNvPr>
          <p:cNvCxnSpPr/>
          <p:nvPr/>
        </p:nvCxnSpPr>
        <p:spPr>
          <a:xfrm xmlns:a="http://schemas.openxmlformats.org/drawingml/2006/main">
            <a:off x="3524250" y="2620241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94E81-08CF-4BDE-953A-803711F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8791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POST create-order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3E135-9410-443E-B764-AD1AEAB5F309}"/>
              </a:ext>
            </a:extLst>
          </p:cNvPr>
          <p:cNvCxnSpPr/>
          <p:nvPr/>
        </p:nvCxnSpPr>
        <p:spPr>
          <a:xfrm xmlns:a="http://schemas.openxmlformats.org/drawingml/2006/main">
            <a:off x="6000750" y="2897332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B3B5B-B857-4DC3-B188-59EE72E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5882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validate user, listing, price, seller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A65C7-62F3-4160-9759-F9ADEA8E2A9C}"/>
              </a:ext>
            </a:extLst>
          </p:cNvPr>
          <p:cNvCxnSpPr/>
          <p:nvPr/>
        </p:nvCxnSpPr>
        <p:spPr>
          <a:xfrm xmlns:a="http://schemas.openxmlformats.org/drawingml/2006/main">
            <a:off x="6000750" y="3174423"/>
            <a:ext cx="49530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7F13C-6EFF-4303-8A4E-B40A64F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2973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create test-mode gateway order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58CB9-DEA8-4C44-8C3B-0F91B5FA0FC6}"/>
              </a:ext>
            </a:extLst>
          </p:cNvPr>
          <p:cNvCxnSpPr/>
          <p:nvPr/>
        </p:nvCxnSpPr>
        <p:spPr>
          <a:xfrm xmlns:a="http://schemas.openxmlformats.org/drawingml/2006/main" rot="10800000">
            <a:off x="6000750" y="3451514"/>
            <a:ext cx="49530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F6760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4A755-BC29-41B1-9199-ADBD884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0064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gateway order ID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E94FB-1412-48FD-B7E3-668439D34769}"/>
              </a:ext>
            </a:extLst>
          </p:cNvPr>
          <p:cNvCxnSpPr/>
          <p:nvPr/>
        </p:nvCxnSpPr>
        <p:spPr>
          <a:xfrm xmlns:a="http://schemas.openxmlformats.org/drawingml/2006/main">
            <a:off x="6000750" y="3728605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DC8DB-62B5-4158-88C4-EB663955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57155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store pending order and payment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9729D8-1044-4007-BF9F-B3AD8BDBF1E3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524250" y="4005695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F6760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3203E6-8804-43B7-8323-E065382A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34245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checkout payload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FE9541-69C2-442C-B1A6-44FC3BED36A8}"/>
              </a:ext>
            </a:extLst>
          </p:cNvPr>
          <p:cNvCxnSpPr/>
          <p:nvPr/>
        </p:nvCxnSpPr>
        <p:spPr>
          <a:xfrm xmlns:a="http://schemas.openxmlformats.org/drawingml/2006/main">
            <a:off x="3524250" y="4282786"/>
            <a:ext cx="7429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521F51-FA5A-457B-B346-F2685ECB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1336"/>
            <a:ext cx="727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buyer authorizes payment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05A914-36EC-49D7-BFEE-13E3B9860D23}"/>
              </a:ext>
            </a:extLst>
          </p:cNvPr>
          <p:cNvCxnSpPr/>
          <p:nvPr/>
        </p:nvCxnSpPr>
        <p:spPr>
          <a:xfrm xmlns:a="http://schemas.openxmlformats.org/drawingml/2006/main">
            <a:off x="3524250" y="4559877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841EC-A2F5-4BFC-A6EE-FAA34A6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88427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POST verify signature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0B283-5E51-44B7-842A-1648B30DEAB0}"/>
              </a:ext>
            </a:extLst>
          </p:cNvPr>
          <p:cNvCxnSpPr/>
          <p:nvPr/>
        </p:nvCxnSpPr>
        <p:spPr>
          <a:xfrm xmlns:a="http://schemas.openxmlformats.org/drawingml/2006/main">
            <a:off x="6000750" y="4836968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F76FDF-7779-4335-95BC-5423A9B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65518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mark paid and seller_pending</a:t>
            </a:r>
          </a:p>
        </p:txBody>
      </p: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86F654-D911-46C3-AEAF-15D1CD844B05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524250" y="5114059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F6760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06F6D5-F148-46A0-A632-8FE979A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42609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order confirmation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AAC5C5-1CD8-4A36-8E4C-5F1EEA7B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1">
                <a:solidFill>
                  <a:srgbClr val="6F6760"/>
                </a:solidFill>
              </a:defRPr>
            </a:pPr>
            <a:r>
              <a:rPr sz="1050" b="0" i="1">
                <a:solidFill>
                  <a:srgbClr val="6F6760"/>
                </a:solidFill>
              </a:rPr>
              <a:t>Alternate outcome: an invalid signature records a failed payment status and returns an error response.</a:t>
            </a:r>
          </a:p>
        </p:txBody>
      </p:sp>
    </p:spTree>
    <p:extLst>
      <p:ext uri="{BB962C8B-B14F-4D97-AF65-F5344CB8AC3E}">
        <p14:creationId xmlns:p14="http://schemas.microsoft.com/office/powerpoint/2010/main" val="1110660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8DA9C4-81B7-40DC-8E3A-42172A68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23708-CB71-4385-B809-BF88A814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A2A8C-3EDD-4C57-B339-0985116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Sequence Diagram: Seller listing and delivery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94A21-3A4D-456D-B91C-BF480DE3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45961-495D-46B0-BED7-E03F3A62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F6681-BA94-4D71-AABA-08F122FE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6DDF1-3A31-441B-AC4E-9DDE515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9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275-420B-46B9-8AFA-E3206AE4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Seller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76CF-D3D2-4A3C-A4F1-0639CFF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2861B-F49C-4250-8382-1B9FB2FB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C28D0-036C-42ED-ACFF-30652F3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Web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76B06-A5AB-429C-88E5-865A6C37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B4E79-22ED-4E91-B968-8A8517C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E3C52-7584-4F6B-BEB5-A6697382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Next.js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7987C-DEFA-4E7C-93AF-BCB25A8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822C7-5FF4-4B3F-91C6-B3E6105B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13759-351F-4D98-855A-60735E7E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Supabase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090D0-148F-42A3-BE57-A3FDAB6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ED328-5731-45E1-BFED-DD34A3E8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19250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3E507-8DA8-4B09-BA94-B719317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335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Buyer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2D151-8CA7-43B6-8ED9-0A1A01E3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19300"/>
            <a:ext cx="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dash"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4FA64-2B0B-44FD-85F7-F054325906F0}"/>
              </a:ext>
            </a:extLst>
          </p:cNvPr>
          <p:cNvCxnSpPr/>
          <p:nvPr/>
        </p:nvCxnSpPr>
        <p:spPr>
          <a:xfrm xmlns:a="http://schemas.openxmlformats.org/drawingml/2006/main">
            <a:off x="1047750" y="2343150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A75C3-679E-4C41-A59F-722B638F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create listing or open order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2DC49-6AB3-49C4-88BB-529A7B1ED80C}"/>
              </a:ext>
            </a:extLst>
          </p:cNvPr>
          <p:cNvCxnSpPr/>
          <p:nvPr/>
        </p:nvCxnSpPr>
        <p:spPr>
          <a:xfrm xmlns:a="http://schemas.openxmlformats.org/drawingml/2006/main">
            <a:off x="3524250" y="2681817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CBB6F-FF94-43AC-BCBB-2148955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0367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authenticated request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CA061-CA92-4EDE-917C-3B7393360637}"/>
              </a:ext>
            </a:extLst>
          </p:cNvPr>
          <p:cNvCxnSpPr/>
          <p:nvPr/>
        </p:nvCxnSpPr>
        <p:spPr>
          <a:xfrm xmlns:a="http://schemas.openxmlformats.org/drawingml/2006/main">
            <a:off x="6000750" y="3020483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B5CE8-342C-4853-9634-31E5E2E5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9033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check seller role and persist listing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E720DA-FEBA-458D-A04E-1BC42B9FA0DC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524250" y="3359150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F6760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6DE16-C7ED-432B-B650-E2263A4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77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listing or order state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ADF235-A6E4-4DEE-8C2E-B70B37D613F2}"/>
              </a:ext>
            </a:extLst>
          </p:cNvPr>
          <p:cNvCxnSpPr/>
          <p:nvPr/>
        </p:nvCxnSpPr>
        <p:spPr>
          <a:xfrm xmlns:a="http://schemas.openxmlformats.org/drawingml/2006/main">
            <a:off x="1047750" y="3697817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CB504-5E50-4F7A-8796-3E0351AA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6367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accept order / start work / submit delivery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046745-2821-4C48-B9E5-C0133926F40C}"/>
              </a:ext>
            </a:extLst>
          </p:cNvPr>
          <p:cNvCxnSpPr/>
          <p:nvPr/>
        </p:nvCxnSpPr>
        <p:spPr>
          <a:xfrm xmlns:a="http://schemas.openxmlformats.org/drawingml/2006/main">
            <a:off x="3524250" y="4036483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059EE-883B-4CC9-832F-DB8C623E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5033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POST order transition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F375B-4C31-473C-BCEF-F2FB2F74E9A5}"/>
              </a:ext>
            </a:extLst>
          </p:cNvPr>
          <p:cNvCxnSpPr/>
          <p:nvPr/>
        </p:nvCxnSpPr>
        <p:spPr>
          <a:xfrm xmlns:a="http://schemas.openxmlformats.org/drawingml/2006/main">
            <a:off x="6000750" y="4375150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57B362-46EC-417B-889E-3B006EA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037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authorize seller and update state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2CE2BA-3B0A-436E-83CC-4353C351B143}"/>
              </a:ext>
            </a:extLst>
          </p:cNvPr>
          <p:cNvCxnSpPr/>
          <p:nvPr/>
        </p:nvCxnSpPr>
        <p:spPr>
          <a:xfrm xmlns:a="http://schemas.openxmlformats.org/drawingml/2006/main">
            <a:off x="6000750" y="4713817"/>
            <a:ext cx="49530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E9684A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1334CE-2A21-4E95-942D-49BB6335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42367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2C2A28"/>
                </a:solidFill>
              </a:defRPr>
            </a:pPr>
            <a:r>
              <a:rPr sz="750" b="0" i="0">
                <a:solidFill>
                  <a:srgbClr val="2C2A28"/>
                </a:solidFill>
              </a:rPr>
              <a:t>create buyer notification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2952B-F0FD-4AE3-9976-8CD1A180E76F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524250" y="5052483"/>
            <a:ext cx="2476500" cy="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F6760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5B6967-108C-4375-B692-BC80732B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81033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updated timeline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65F13-8A55-49F9-9AFF-770C2CBD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1">
                <a:solidFill>
                  <a:srgbClr val="6F6760"/>
                </a:solidFill>
              </a:defRPr>
            </a:pPr>
            <a:r>
              <a:rPr sz="1050" b="0" i="1">
                <a:solidFill>
                  <a:srgbClr val="6F6760"/>
                </a:solidFill>
              </a:rPr>
              <a:t>A seller cannot manage another provider’s service, and a buyer approval triggers completion for submitted fixed-scope work.</a:t>
            </a:r>
          </a:p>
        </p:txBody>
      </p:sp>
    </p:spTree>
    <p:extLst>
      <p:ext uri="{BB962C8B-B14F-4D97-AF65-F5344CB8AC3E}">
        <p14:creationId xmlns:p14="http://schemas.microsoft.com/office/powerpoint/2010/main" val="414203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3B859-63BF-4DC2-B21F-A0CB82DCAD63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7667625" y="2095500"/>
            <a:ext cx="28575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10D7D3-6519-41E1-9253-4F9D36913DD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953375" y="2095500"/>
            <a:ext cx="15240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9BE024-CF9C-41FB-87C5-2A7313EB8D4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7096125" y="2095500"/>
            <a:ext cx="8572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ECD99B-D031-4E62-9F50-25AF8D7FEED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476875" y="3929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94802-99FE-4E73-B24E-4A1BA25D12F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762125" y="22860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58871D-78DB-4D7E-866C-C0E4CF710CA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72000" y="2095500"/>
            <a:ext cx="238125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CAC71-7D6E-496C-B531-4E50F868CB1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95350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401079-170E-495D-9356-9DAC19B5169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1762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D820E9-2890-499A-8322-062FAFFD74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762250" y="1762125"/>
            <a:ext cx="10477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596D26-5AEA-49F4-9D7B-639B1585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A2462-ECB1-4CD5-ADDC-F09E1A1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263C3-09A4-4AD7-BAA2-B30238E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Domain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1C8FA-F380-469C-BADA-C86CF58C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A4442-6B97-43BF-8233-A13D00B0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DC9A9-7A76-46F0-B739-9D1C8AB7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FF64C-E284-4EBE-B741-F326156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545C2-C918-442A-BAF0-06D79BC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240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53000-F484-4863-B542-80BB5194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roles, verification, reputation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84739-9735-4003-96A4-B2550FB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87321-F1AE-423D-97D9-31B11E1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335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95E47-115A-4E62-92BC-BB20E12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provider, status,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5F112-1697-4871-BCBA-EB7834E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67C64-5159-424F-BD34-A6373090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335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2AD8B-7F3E-4F02-BBBD-F7B824A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buyer, seller,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A384C-22A9-4AAA-9732-D8BCF41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BB2C8-8A1D-42E2-94C2-BB5C6F5F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24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Availability slot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6F77B-DAB3-49F2-9E84-53A2482F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90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provider, service,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B426-F196-4704-A4C1-3C3EFB62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A0F2C-7AD7-443C-A055-2ECE3120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Booking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5081F-E99C-45E0-A29E-EA7B151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90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buyer, seller,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424C9-16CC-4264-A941-B203E91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53579-D2F8-4625-880B-057A9D0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335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A425F-CCE5-483B-B316-FD94CE8A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order, gateway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DB505-51E2-4FB5-9181-7DC814C8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E8796-3F66-4DB3-B483-31F401E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24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D6D9C-710A-4EFC-9388-EFA7B31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90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completed order rating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A099A-C596-4AB6-8E19-2CE96C79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E93A9-85B1-4CFE-BE93-72ADCCA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Order message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5C860-66AF-4C89-9527-FD5887A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29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sender, receiver,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D2BFF-8CC0-45EB-9F30-38ABA266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E8618-DF84-44F5-A8D4-29BC73E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Verification 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F60C4-E66B-4BF8-96F7-DC248F1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student evidence and decision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D06E84-9FFD-45F7-9B44-2CBFF90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1 provider : many listings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D1CE35-6B80-47D1-99F8-A91E60DE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62100"/>
            <a:ext cx="109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1 listing : many orders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193597-6BF6-42C2-A2E7-CF93B41C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62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6667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1 order : payment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98A276-4F58-4125-80FD-7A4B24B3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480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6F6760"/>
                </a:solidFill>
              </a:defRPr>
            </a:pPr>
            <a:r>
              <a:rPr sz="750" b="0" i="0">
                <a:solidFill>
                  <a:srgbClr val="6F6760"/>
                </a:solidFill>
              </a:rPr>
              <a:t>buyer / seller references</a:t>
            </a:r>
          </a:p>
        </p:txBody>
      </p:sp>
    </p:spTree>
    <p:extLst>
      <p:ext uri="{BB962C8B-B14F-4D97-AF65-F5344CB8AC3E}">
        <p14:creationId xmlns:p14="http://schemas.microsoft.com/office/powerpoint/2010/main" val="5308302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151F52-DF0E-4309-917A-75C13FB272D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858250" y="3371850"/>
            <a:ext cx="76200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CB2D2-327E-43F2-90A5-0AAC619D8A8A}"/>
              </a:ext>
            </a:extLst>
          </p:cNvPr>
          <p:cNvCxnSpPr>
            <a:stCxn xmlns:a="http://schemas.openxmlformats.org/drawingml/2006/main" id="29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H="1" flipV="1">
            <a:off x="9715500" y="3810000"/>
            <a:ext cx="7381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9BF18-8F36-4079-9A0B-AE391E4CE00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6096000" y="3810000"/>
            <a:ext cx="361950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C0A92-830A-48C7-989B-F1B0A3F237CF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8858250" y="3371850"/>
            <a:ext cx="3810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ED34C-142B-4163-A13A-1C9329AD3D7D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181100" y="4895850"/>
            <a:ext cx="29146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A6D88-3209-4177-9829-C6D558928C94}"/>
              </a:ext>
            </a:extLst>
          </p:cNvPr>
          <p:cNvCxnSpPr>
            <a:stCxn xmlns:a="http://schemas.openxmlformats.org/drawingml/2006/main" id="16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5095875" y="3600450"/>
            <a:ext cx="27622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B60EE-9F44-43CB-8C5A-DC11656262F6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7858125" y="1981200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0FFD0-7D8F-4CED-8982-391EA92F2F4C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096000" y="17526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CE028-FBFF-4072-8F7F-7771369F55E8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429000" y="1752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A6268-99AA-4CC1-8797-4AD7D30C9AC7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1162050" y="1752600"/>
            <a:ext cx="4572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57443-325D-40A4-B28B-2BF2477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40AF6-985D-433D-BD0C-A90C59BA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A8C3E-F7D9-451F-8E2B-EDBE85FA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Activity Diagram: Fixed-scope order completion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F2EDD-6393-4BE6-ABAC-5818A326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41333-E306-4E33-AE43-221E021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5FDC9-C204-41D0-8CA2-4FF60BA0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20A2B-C1E0-4F15-8F15-8133D9FD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A28"/>
          </a:solidFill>
          <a:ln xmlns:a="http://schemas.openxmlformats.org/drawingml/2006/main" w="0">
            <a:solidFill>
              <a:srgbClr val="2C2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3EBEB-2A74-4851-A4ED-D9870094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2EF1-2850-4D1F-AA44-3AAA7D1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287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991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Select a published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690BA-1B98-45E6-9BFE-8C1DAA11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7D2EE-4B73-43A3-A19E-46ED4CE7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287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966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Checkout and verify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A3F3F-C4A6-44B0-B9FF-EE6C1F66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AF209-1A98-4397-8176-ABA1EE45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287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Seller accepts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83C5-AB19-4F02-A30E-5029681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7B6C1-41AC-4D0B-9ACB-1AABCA82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480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Seller submits deliverable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C837A-E146-4ED7-A433-52E9D36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28445-1032-4CED-A9C8-8C90E293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720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Buyer approves completion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89A2F-D74D-4E7C-AADE-FDF6703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C2A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454A9-34B2-4DF4-983F-9798125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95250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E968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06B6C-655F-4419-AD6F-34BA110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Buyer</a:t>
            </a:r>
          </a:p>
          <a:p xmlns:a="http://schemas.openxmlformats.org/drawingml/2006/main">
            <a:pPr>
              <a:defRPr sz="900" b="1" i="0">
                <a:solidFill>
                  <a:srgbClr val="2C2A28"/>
                </a:solidFill>
              </a:defRPr>
            </a:pPr>
            <a:r>
              <a:rPr sz="900" b="1" i="0">
                <a:solidFill>
                  <a:srgbClr val="2C2A28"/>
                </a:solidFill>
              </a:rPr>
              <a:t>approves?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F111A-F276-414A-BC56-5FB4502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9625"/>
            <a:ext cx="1666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0DA980-555C-4736-B2B6-210E9A1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244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Revision requested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6A9E8-DBA8-4D95-BA2A-2596E559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911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returns to seller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61D0C-2BDB-461F-B193-0EB36C3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86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1" i="0">
                <a:solidFill>
                  <a:srgbClr val="2D776D"/>
                </a:solidFill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2D776D"/>
                </a:solidFill>
              </a:defRPr>
            </a:pPr>
            <a:r>
              <a:rPr sz="825" b="1" i="0">
                <a:solidFill>
                  <a:srgbClr val="2D776D"/>
                </a:solidFill>
              </a:rPr>
              <a:t>yes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A57C4-0BB7-4750-965D-1C38C5C2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76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E9684A"/>
                </a:solidFill>
              </a:defRPr>
            </a:pPr>
            <a:r>
              <a:rPr sz="825" b="1" i="0">
                <a:solidFill>
                  <a:srgbClr val="E9684A"/>
                </a:solidFill>
              </a:rPr>
              <a:t>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B701F2-2F86-4446-B8D9-531F488F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F6760"/>
                </a:solidFill>
              </a:defRPr>
            </a:pPr>
            <a:r>
              <a:rPr sz="1125" b="0" i="1">
                <a:solidFill>
                  <a:srgbClr val="6F6760"/>
                </a:solidFill>
              </a:rPr>
              <a:t>Completion records the final order state and enables a transaction-backed buyer review.</a:t>
            </a:r>
          </a:p>
        </p:txBody>
      </p:sp>
    </p:spTree>
    <p:extLst>
      <p:ext uri="{BB962C8B-B14F-4D97-AF65-F5344CB8AC3E}">
        <p14:creationId xmlns:p14="http://schemas.microsoft.com/office/powerpoint/2010/main" val="1627955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4D276-4C73-4B82-AB3A-9BD3B6E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61AD1-7BB6-4595-97CC-72309E5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55EA-2C6A-4134-B790-D4CDCC2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Functional size estimation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47BC-7BEF-4F61-A85D-CBD1B97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C45AA-17A8-45E9-AC5C-1DBE176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ADA4C-5C7E-4F2F-B523-5B5236E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5C68F-7056-417C-8BC8-7021AE0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C2A28"/>
                </a:solidFill>
              </a:defRPr>
            </a:pPr>
            <a:r>
              <a:rPr sz="1425" b="1" i="0">
                <a:solidFill>
                  <a:srgbClr val="2C2A28"/>
                </a:solidFill>
              </a:rPr>
              <a:t>Function Point estimate based on the implemented marketplace scope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907D7-90BC-4E48-8825-3CB6560F7F8E}"/>
              </a:ext>
            </a:extLst>
          </p:cNvPr>
          <p:cNvGraphicFramePr/>
          <p:nvPr/>
        </p:nvGraphicFramePr>
        <p:xfrm>
          <a:off xmlns:a="http://schemas.openxmlformats.org/drawingml/2006/main" x="590550" y="1809750"/>
          <a:ext xmlns:a="http://schemas.openxmlformats.org/drawingml/2006/main" cx="11010900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UFP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Representative functions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EI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registration, verification, listing, availability, checkout, order action, review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EO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search results, dashboards, confirmations, notifications, rating output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EQ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catalog, profile, order, and message queries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ILF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profiles, services, availability, bookings, orders, payments, reviews, notifications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EIF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Razorpay and NVIDIA integration interfaces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40821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123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C2A28"/>
                          </a:solidFill>
                        </a:rPr>
                        <a:t>Unadjusted Function Points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F0DB3-131C-496F-B9E8-3EE0126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E9684A"/>
                </a:solidFill>
              </a:defRPr>
            </a:pPr>
            <a:r>
              <a:rPr sz="1200" b="1" i="0">
                <a:solidFill>
                  <a:srgbClr val="E9684A"/>
                </a:solidFill>
              </a:rPr>
              <a:t>UFP = 123. Assumed General System Characteristics total = 35. VAF = 0.65 + (0.01 × 35) = 1.00. Adjusted FP = 123 × 1.00 = 123.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D931-9BC2-4EB6-92EB-6B14B4D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75" b="0" i="1">
                <a:solidFill>
                  <a:srgbClr val="6F6760"/>
                </a:solidFill>
              </a:defRPr>
            </a:pPr>
            <a:r>
              <a:rPr sz="975" b="0" i="1">
                <a:solidFill>
                  <a:srgbClr val="6F6760"/>
                </a:solidFill>
              </a:rPr>
              <a:t>EI: External Input  |  EO: External Output  |  EQ: External Inquiry  |  ILF: Internal Logical File  |  EIF: External Interface File</a:t>
            </a:r>
          </a:p>
        </p:txBody>
      </p:sp>
    </p:spTree>
    <p:extLst>
      <p:ext uri="{BB962C8B-B14F-4D97-AF65-F5344CB8AC3E}">
        <p14:creationId xmlns:p14="http://schemas.microsoft.com/office/powerpoint/2010/main" val="13620183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EDEB4-AF11-4077-9EAB-B057E603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B3F91-B0B6-4C2B-BE09-5D59AA9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46383-7065-495D-84BA-CCF5039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FP-to-KLOC conversion and Basic COCOMO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EADF-26C4-4221-AC66-0945AE0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7A23D-811A-4678-B230-5682C18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AB790-3079-4509-B48E-DFC4C256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C8ACF-EA59-4024-B563-952C01CF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B8B73-A4B2-46C7-A0B2-E6F5322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Functional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BE297-BE65-40EB-AE6B-12C7B8E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717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123 adjusted FP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F9B26-A941-4EC1-AB7F-D11A25AD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41BAD-39D9-4525-881E-1B0FC216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47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Conversion assumption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25E44-F0F8-40B7-9E33-165C907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717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123 × 53 LOC/FP = 6,519 LOC = 6.52 KLOC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4ACE3-1FAA-4514-B481-2C91DDB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70391-B80F-4255-A0EC-F81301C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478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COCOMO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C954E-ED33-4E25-86C9-A07D1DE6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717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Basic COCOMO, organic mode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1B68F-B884-4A55-9BCE-DB06C5E674BA}"/>
              </a:ext>
            </a:extLst>
          </p:cNvPr>
          <p:cNvGraphicFramePr/>
          <p:nvPr/>
        </p:nvGraphicFramePr>
        <p:xfrm>
          <a:off xmlns:a="http://schemas.openxmlformats.org/drawingml/2006/main" x="619125" y="3524250"/>
          <a:ext xmlns:a="http://schemas.openxmlformats.org/drawingml/2006/main" cx="8572500" cy="1619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857500"/>
                <a:gridCol w="2857500"/>
                <a:gridCol w="2857500"/>
              </a:tblGrid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Estimated result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Effort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E = 2.4 × KLOC^1.05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17.3 person-months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T = 2.5 × E^0.38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7.4 months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Average staff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 = E / T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2.3 persons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20940-4F37-4B07-8799-A92293D4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F6760"/>
                </a:solidFill>
              </a:defRPr>
            </a:pPr>
            <a:r>
              <a:rPr sz="1125" b="0" i="1">
                <a:solidFill>
                  <a:srgbClr val="6F6760"/>
                </a:solidFill>
              </a:rPr>
              <a:t>This calculation estimates relative effort from functional size. It does not report actual team effort or project duration.</a:t>
            </a:r>
          </a:p>
        </p:txBody>
      </p:sp>
    </p:spTree>
    <p:extLst>
      <p:ext uri="{BB962C8B-B14F-4D97-AF65-F5344CB8AC3E}">
        <p14:creationId xmlns:p14="http://schemas.microsoft.com/office/powerpoint/2010/main" val="1834132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CC3B4-AA9F-466B-8A75-3585DD14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AEE4D-BF96-42BA-B6B9-71227D4A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072BD-44C1-4CB4-840E-FFC2601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Approximate project plan and proposed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697CC-8260-4520-BF34-7A287B8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DBC5E-B0B1-4993-BFEB-ED6C09B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583AB-5EC8-490C-AC00-90E5F103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1915A-E2D8-494C-895C-81B442258A03}"/>
              </a:ext>
            </a:extLst>
          </p:cNvPr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6667500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222500"/>
                <a:gridCol w="2222500"/>
                <a:gridCol w="22225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Indicative focus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 label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1. Scope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requirements, roles, data model, and user journeys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approximate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2. Build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frontend flows, API routes, Supabase schema, integrations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approximate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3. Integrate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orders, payments, messages, reviews, admin workflows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approximate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4. Validate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Selenium black-box evidence, documentation, presentation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2C2A28"/>
                          </a:solidFill>
                        </a:rPr>
                        <a:t>approximate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0F637-A55D-4370-8ECD-07E7D00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3886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D7C02-D51D-4082-A113-CDCA084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C2A28"/>
                </a:solidFill>
              </a:defRPr>
            </a:pPr>
            <a:r>
              <a:rPr sz="1575" b="1" i="0">
                <a:solidFill>
                  <a:srgbClr val="2C2A28"/>
                </a:solidFill>
              </a:rPr>
              <a:t>Proposed 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B202C-34B7-4518-931F-5449FA6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3286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Soham Patil — frontend and integration</a:t>
            </a:r>
          </a:p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Ganesh Gaikwad — backend and data model</a:t>
            </a:r>
          </a:p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Aditya Sardesai — testing and documentation</a:t>
            </a:r>
          </a:p>
          <a:p xmlns:a="http://schemas.openxmlformats.org/drawingml/2006/main">
            <a:pPr>
              <a:defRPr sz="1200" b="0" i="0">
                <a:solidFill>
                  <a:srgbClr val="2C2A28"/>
                </a:solidFill>
              </a:defRPr>
            </a:pPr>
            <a:r>
              <a:rPr sz="1200" b="0" i="0">
                <a:solidFill>
                  <a:srgbClr val="2C2A28"/>
                </a:solidFill>
              </a:rPr>
              <a:t>Tirth Gangani — UX, testing, and presentation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CB6D8-9E0F-4F9A-B86B-6C7A5A6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576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 i="1">
                <a:solidFill>
                  <a:srgbClr val="B64938"/>
                </a:solidFill>
              </a:defRPr>
            </a:defPPr>
          </a:lstStyle>
          <a:p xmlns:a="http://schemas.openxmlformats.org/drawingml/2006/main">
            <a:pPr>
              <a:defRPr sz="975" b="0" i="1">
                <a:solidFill>
                  <a:srgbClr val="B64938"/>
                </a:solidFill>
              </a:defRPr>
            </a:pPr>
            <a:r>
              <a:rPr sz="975" b="0" i="1">
                <a:solidFill>
                  <a:srgbClr val="B64938"/>
                </a:solidFill>
              </a:rPr>
              <a:t>To be confirmed by the team. This slide does not claim historical individual ownership.</a:t>
            </a:r>
          </a:p>
        </p:txBody>
      </p:sp>
    </p:spTree>
    <p:extLst>
      <p:ext uri="{BB962C8B-B14F-4D97-AF65-F5344CB8AC3E}">
        <p14:creationId xmlns:p14="http://schemas.microsoft.com/office/powerpoint/2010/main" val="87839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5265B-C4E5-40FD-8821-FD321AF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F067-104D-4364-B382-3225B2E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FEC58-33AA-4698-87D9-C568B36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Testing strategy and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23C38-510D-4077-8281-3F0FB84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7114D-7B36-4EEB-9B1F-5AB1751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7D929-A6BD-4552-AFB7-324941F5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63CE5-8D28-41BE-8CE2-907B543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0A54-73D9-48BD-A68C-56DAA6B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2BFA3-B840-41AD-8C41-852C1764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3028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Automated black-box functional testing. The test suite observes browser behavior, form constraints, toasts, routing, and visible state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1B6E-D781-4028-ABF8-1F7CF66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ACAA-1D5B-458F-8D6F-EB279343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049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Tooling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7C6E5-7BA0-4980-886F-9BC4A754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28825"/>
            <a:ext cx="3028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Selenium WebDriver 4.51.0, pytest 9.1.1, Chrome 154 headless mode, and a local Next.js target backed by remote Supabase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8D61A-A6BA-45DE-AE52-0CB66241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7162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82AF3-A2DF-4CEC-9D97-6C85B3C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049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Techniques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8F75-3571-464A-8BAB-5A95E1D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28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Equivalence partitioning, decision-table testing, state-transition testing, use-case testing, boundary-value analysis, and error guessing.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1771E-F3A3-4A03-97B5-3012B9DC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2C2A28"/>
                </a:solidFill>
              </a:defRPr>
            </a:pPr>
            <a:r>
              <a:rPr sz="1350" b="1" i="0">
                <a:solidFill>
                  <a:srgbClr val="2C2A28"/>
                </a:solidFill>
              </a:rPr>
              <a:t>Execution evidence separates the initial full-suite baseline from a focused selected-test rerun.</a:t>
            </a:r>
          </a:p>
        </p:txBody>
      </p:sp>
    </p:spTree>
    <p:extLst>
      <p:ext uri="{BB962C8B-B14F-4D97-AF65-F5344CB8AC3E}">
        <p14:creationId xmlns:p14="http://schemas.microsoft.com/office/powerpoint/2010/main" val="2067309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6ABF8-F2C4-4935-BAA6-3FE5D5A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69325-E1DF-4E59-9F4E-3E948A8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E236B-0E1B-411D-94D2-F14F758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White-box testing scope and evidence limit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37C79-5313-446B-A7F5-5C4D35C9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86620-3913-48C4-A1E6-6AE8644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8C167-8F43-4953-B3C9-F81233C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43F70-DCFD-4BBF-A55D-D060464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8020"/>
          </a:bodyPr>
          <a:lstStyle xmlns:a="http://schemas.openxmlformats.org/drawingml/2006/main">
            <a:defPPr>
              <a:defRPr sz="172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2C2A28"/>
                </a:solidFill>
              </a:defRPr>
            </a:pPr>
            <a:r>
              <a:rPr sz="1725" b="1" i="0">
                <a:solidFill>
                  <a:srgbClr val="2C2A28"/>
                </a:solidFill>
              </a:rPr>
              <a:t>The available evidence supports browser-driven black-box testing. The presentation therefore does not claim measured white-box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37CBB-7929-47E7-B6DB-116900D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24B07-DCC6-4BCE-9594-530262C5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What the repository provides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3DAF1-FCA3-44AD-ACBD-FE68E3C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8860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TypeScript application code, SQL migrations, test scripts, and Selenium tests. These support code inspection and traceability.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C561B-EB82-49C5-A274-5BBA9C7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ACB96-1594-4D1F-80B0-6900A71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What is not claimed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B97C0-998A-4A56-BF6A-1251B588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8860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No verified line, branch, path, or mutation coverage result. No synthetic coverage percentage is added.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A822E-3834-4437-87F4-7874A96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4AB91-B51C-407B-B29E-7FBF728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Academic next 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34377-496E-4F38-956E-3EFAE04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8860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Add a unit or integration test runner with coverage instrumentation, then report measured coverage separately from browser tests.</a:t>
            </a:r>
          </a:p>
        </p:txBody>
      </p:sp>
    </p:spTree>
    <p:extLst>
      <p:ext uri="{BB962C8B-B14F-4D97-AF65-F5344CB8AC3E}">
        <p14:creationId xmlns:p14="http://schemas.microsoft.com/office/powerpoint/2010/main" val="6026713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A6BAC-62DE-402F-BB93-149FD2A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AAC48-7DDA-443D-A1F2-CF88160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88C4C-AE5D-4A54-A34F-70CC491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Black-box testing: Equivalence Partitioning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32AA7-4B12-4DB6-859E-C2F8E117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3D796-7333-4456-9BB6-90566B7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24E91-5129-4DC8-AE39-8564FB1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468AA-1BEE-4775-A414-9EC077548800}"/>
              </a:ext>
            </a:extLst>
          </p:cNvPr>
          <p:cNvGraphicFramePr/>
          <p:nvPr/>
        </p:nvGraphicFramePr>
        <p:xfrm>
          <a:off xmlns:a="http://schemas.openxmlformats.org/drawingml/2006/main" x="590550" y="1666875"/>
          <a:ext xmlns:a="http://schemas.openxmlformats.org/drawingml/2006/main" cx="110109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52725"/>
                <a:gridCol w="2752725"/>
                <a:gridCol w="2752725"/>
                <a:gridCol w="2752725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 class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Expected observable result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Selected rerun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BB-EP-02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Valid email syntax + incorrect password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Credential error; remains on login page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BB-EP-04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Blank mandatory email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Browser blocks submission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BB-EP-07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Mismatched registration passwords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Mismatch message; remains on register page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39A4B-C3AF-4BA9-8AB1-D4A2D6D9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F6760"/>
                </a:solidFill>
              </a:defRPr>
            </a:pPr>
            <a:r>
              <a:rPr sz="1200" b="0" i="1">
                <a:solidFill>
                  <a:srgbClr val="6F6760"/>
                </a:solidFill>
              </a:rPr>
              <a:t>The selected rerun verified representative valid and invalid input partitions. It does not replace the initial 39-test baseline.</a:t>
            </a:r>
          </a:p>
        </p:txBody>
      </p:sp>
    </p:spTree>
    <p:extLst>
      <p:ext uri="{BB962C8B-B14F-4D97-AF65-F5344CB8AC3E}">
        <p14:creationId xmlns:p14="http://schemas.microsoft.com/office/powerpoint/2010/main" val="214499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D790E-0914-4AFA-B2A3-02A3862F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A606-4131-44B9-8841-00B8D37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55FFD-F138-4DD4-8703-16917D0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Black-box testing: Decision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C468A-3BD6-4235-9949-391A4CA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D9C77-3BCA-4A2B-8C68-DCE271E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566FF-6839-45B9-8231-BB852F9A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A438-D6FB-476F-AB8A-C1562D6975DA}"/>
              </a:ext>
            </a:extLst>
          </p:cNvPr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11010900" cy="3048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52725"/>
                <a:gridCol w="2752725"/>
                <a:gridCol w="2752725"/>
                <a:gridCol w="2752725"/>
              </a:tblGrid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Condition / action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Rule 1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Rule 2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Rule 3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Access target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/services/create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/services/create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/admin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Active session token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Required role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Seller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Seller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Administrator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Expected result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Redirect to login with returnUrl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Permit route evaluation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Redirect to login with returnUrl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508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BB-DT-06 PASS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Role guard requires session and seller authorization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BB-EG-06 screenshot in suite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938A0-A504-4A39-9001-DA200119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F6760"/>
                </a:solidFill>
              </a:defRPr>
            </a:pPr>
            <a:r>
              <a:rPr sz="1125" b="0" i="1">
                <a:solidFill>
                  <a:srgbClr val="6F6760"/>
                </a:solidFill>
              </a:rPr>
              <a:t>Decision-table cases model observable routing and role-entry conditions. Server API authorization adds a second boundary behind the UI route guard.</a:t>
            </a:r>
          </a:p>
        </p:txBody>
      </p:sp>
    </p:spTree>
    <p:extLst>
      <p:ext uri="{BB962C8B-B14F-4D97-AF65-F5344CB8AC3E}">
        <p14:creationId xmlns:p14="http://schemas.microsoft.com/office/powerpoint/2010/main" val="416802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936E4-6500-48AF-9C5C-FACC4DFF544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096250" y="31194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19FB0-22CD-48AE-ACD9-52A4F44E1FF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238750" y="31194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B023D-C741-4255-A3BB-DBDC6AB956D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71750" y="31194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76D"/>
            </a:solidFill>
            <a:prstDash val="solid"/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DAD02-4615-468C-8139-D6CC98E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AE3B1-E107-4F19-AE98-5F82EDD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AD606-8343-4FAE-B317-FC397DA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Black-box testing: State transitions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286F1-9733-4CD4-BFA6-F06A432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4021-6946-4975-9972-0F78AC9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39C2D-BA07-447F-BDC3-41B3A5AD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B3075-1AA6-42BD-9228-A9C230CB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524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7C60A-F722-4837-BEC8-057BC70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S0 Landing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450E2-1B3E-43AC-9C5D-B7C1D7C4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F51D1-4605-4C18-AE46-6A7454B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1524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0D8F3-C290-4451-9D7B-F3D7D6F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S1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65F45-9247-4967-8187-6EC02DAB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81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/login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F6D19-8AD0-4A23-BC33-24A9627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171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1EA57-E3B1-459F-BB49-B496ADD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S2 Auth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97931-89B9-4970-9FDF-0CE0576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returnUrl retained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9BAA8-CF48-4949-827E-4CD0E60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71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998C1-91CF-4271-BEC1-8047ACD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14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S3 Seller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41273-B724-46C2-B236-07977B8E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8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6F6760"/>
                </a:solidFill>
              </a:defRPr>
            </a:pPr>
            <a:r>
              <a:rPr sz="825" b="0" i="0">
                <a:solidFill>
                  <a:srgbClr val="6F6760"/>
                </a:solidFill>
              </a:rPr>
              <a:t>authorized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13B59-0983-4A35-BA86-9C1AAEA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36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Log in click</a:t>
            </a:r>
          </a:p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BB-ST-01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DA0F4-88F7-4DBC-BC3E-1A700023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direct protected route</a:t>
            </a:r>
          </a:p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BB-ST-03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FB127-3096-42A4-9CF3-DCF9038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0" i="0">
                <a:solidFill>
                  <a:srgbClr val="6F6760"/>
                </a:solidFill>
              </a:defRPr>
            </a:pPr>
            <a:r>
              <a:rPr sz="900" b="0" i="0">
                <a:solidFill>
                  <a:srgbClr val="6F6760"/>
                </a:solidFill>
              </a:rPr>
              <a:t>authenticate + seller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6A5B0-9C4E-4C22-95B8-EA4C97D8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F6760"/>
                </a:solidFill>
              </a:defRPr>
            </a:pPr>
            <a:r>
              <a:rPr sz="1200" b="0" i="1">
                <a:solidFill>
                  <a:srgbClr val="6F6760"/>
                </a:solidFill>
              </a:rPr>
              <a:t>Observed transition evidence confirms Landing → Login and unauthenticated Seller Route → Auth Gate. The last transition is shown as an implemented role-gated workflow rather than a selected-rerun claim.</a:t>
            </a:r>
          </a:p>
        </p:txBody>
      </p:sp>
    </p:spTree>
    <p:extLst>
      <p:ext uri="{BB962C8B-B14F-4D97-AF65-F5344CB8AC3E}">
        <p14:creationId xmlns:p14="http://schemas.microsoft.com/office/powerpoint/2010/main" val="1863157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7F0FB-15DB-43FF-AA8B-F883E74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3EE58-0A18-4C0F-AC62-6CA0E771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4D76F-D451-4545-AF56-C8CF678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Black-box testing: Use cases and boundary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456E5-08F6-4DF9-93B6-C5847E5B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EC447-78DA-4444-B16B-6E420C3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80CC7-6EBA-4239-8EC3-A534A605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3D154-AE2B-48CE-9071-7497256A5B70}"/>
              </a:ext>
            </a:extLst>
          </p:cNvPr>
          <p:cNvGraphicFramePr/>
          <p:nvPr/>
        </p:nvGraphicFramePr>
        <p:xfrm>
          <a:off xmlns:a="http://schemas.openxmlformats.org/drawingml/2006/main" x="590550" y="1666875"/>
          <a:ext xmlns:a="http://schemas.openxmlformats.org/drawingml/2006/main" cx="11010900" cy="2571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Selected rerun</a:t>
                      </a:r>
                    </a:p>
                  </a:txBody>
                  <a:tcPr marL="91440" marR="91440" marT="45720" marB="45720">
                    <a:solidFill>
                      <a:srgbClr val="2C2A28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BB-UC-04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Use case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Guest opens seller service-creation URL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Authentication gate protects seller workflow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BB-BVA-01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Boundary value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Registration password at 5 characters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Minimum length validation blocks submission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5EA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BB-BVA-02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Boundary value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Registration password at 6 characters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No minimum-length rejection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>
                          <a:solidFill>
                            <a:srgbClr val="2C2A28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3FC61-6205-4FD0-B6DB-48D40E8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F6760"/>
                </a:solidFill>
              </a:defRPr>
            </a:pPr>
            <a:r>
              <a:rPr sz="1125" b="0" i="1">
                <a:solidFill>
                  <a:srgbClr val="6F6760"/>
                </a:solidFill>
              </a:rPr>
              <a:t>The BVA cases prove adjacent values around the configured six-character client-side threshold. They do not establish server-side password policy coverage.</a:t>
            </a:r>
          </a:p>
        </p:txBody>
      </p:sp>
    </p:spTree>
    <p:extLst>
      <p:ext uri="{BB962C8B-B14F-4D97-AF65-F5344CB8AC3E}">
        <p14:creationId xmlns:p14="http://schemas.microsoft.com/office/powerpoint/2010/main" val="10858679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E3C9B-9EA2-47EC-AA0E-8330AE8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1612C-8C24-4CDD-AA3B-D6F2452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CBCF1-05E3-439B-A5C5-43190CF6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Test execution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9DBCF-566E-4982-93D9-816C1E5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E878-1D87-4B4E-9731-5FFDD9A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FB24B-E329-4EB7-801E-896A128C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B1333-54B2-49A4-9906-3714280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697"/>
          </a:bodyPr>
          <a:lstStyle xmlns:a="http://schemas.openxmlformats.org/drawingml/2006/main">
            <a:defPPr>
              <a:defRPr sz="16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2C2A28"/>
                </a:solidFill>
              </a:defRPr>
            </a:pPr>
            <a:r>
              <a:rPr sz="1650" b="1" i="0">
                <a:solidFill>
                  <a:srgbClr val="2C2A28"/>
                </a:solidFill>
              </a:rPr>
              <a:t>Initial full-suite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B9CAF-715A-4326-9672-6681A695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5908B-3F2A-4E84-8760-FA94332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684"/>
          </a:bodyPr>
          <a:lstStyle xmlns:a="http://schemas.openxmlformats.org/drawingml/2006/main">
            <a:defPPr>
              <a:defRPr sz="28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850" b="1" i="0">
                <a:solidFill>
                  <a:srgbClr val="2C2A28"/>
                </a:solidFill>
              </a:defRPr>
            </a:pPr>
            <a:r>
              <a:rPr sz="2850" b="1" i="0">
                <a:solidFill>
                  <a:srgbClr val="2C2A28"/>
                </a:solidFill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26BB8-2C1E-4370-A198-83445B1B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F6760"/>
                </a:solidFill>
              </a:defRPr>
            </a:pPr>
            <a:r>
              <a:rPr sz="1050" b="0" i="0">
                <a:solidFill>
                  <a:srgbClr val="6F6760"/>
                </a:solidFill>
              </a:rPr>
              <a:t>Total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89F77-E702-4896-88B0-FDF89EE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47875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0F0E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303F2-8DAB-4C80-B4DC-F9F23EC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684"/>
          </a:bodyPr>
          <a:lstStyle xmlns:a="http://schemas.openxmlformats.org/drawingml/2006/main">
            <a:defPPr>
              <a:defRPr sz="28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850" b="1" i="0">
                <a:solidFill>
                  <a:srgbClr val="2C2A28"/>
                </a:solidFill>
              </a:defRPr>
            </a:pPr>
            <a:r>
              <a:rPr sz="2850" b="1" i="0">
                <a:solidFill>
                  <a:srgbClr val="2C2A28"/>
                </a:solidFill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0E487-F3CD-4D87-B421-11BFEC4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F6760"/>
                </a:solidFill>
              </a:defRPr>
            </a:pPr>
            <a:r>
              <a:rPr sz="1050" b="0" i="0">
                <a:solidFill>
                  <a:srgbClr val="6F6760"/>
                </a:solidFill>
              </a:rPr>
              <a:t>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1BEB4-0E89-43C1-A5EA-F74114D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47875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BE4DC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37A75-EAAD-4F8C-98A2-1AFEDB2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684"/>
          </a:bodyPr>
          <a:lstStyle xmlns:a="http://schemas.openxmlformats.org/drawingml/2006/main">
            <a:defPPr>
              <a:defRPr sz="28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850" b="1" i="0">
                <a:solidFill>
                  <a:srgbClr val="2C2A28"/>
                </a:solidFill>
              </a:defRPr>
            </a:pPr>
            <a:r>
              <a:rPr sz="2850" b="1" i="0">
                <a:solidFill>
                  <a:srgbClr val="2C2A28"/>
                </a:solidFill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3A4DA-A916-46E3-A098-80F0D16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6F6760"/>
                </a:solidFill>
              </a:defRPr>
            </a:pPr>
            <a:r>
              <a:rPr sz="1050" b="0" i="0">
                <a:solidFill>
                  <a:srgbClr val="6F6760"/>
                </a:solidFill>
              </a:rPr>
              <a:t>Failed / assertion discrepancies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106E4-911C-4133-BC0D-095D0EB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697"/>
          </a:bodyPr>
          <a:lstStyle xmlns:a="http://schemas.openxmlformats.org/drawingml/2006/main">
            <a:defPPr>
              <a:defRPr sz="165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2C2A28"/>
                </a:solidFill>
              </a:defRPr>
            </a:pPr>
            <a:r>
              <a:rPr sz="1650" b="1" i="0">
                <a:solidFill>
                  <a:srgbClr val="2C2A28"/>
                </a:solidFill>
              </a:rPr>
              <a:t>Focused selected rerun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33A69-2DCF-4ABC-836C-4D698FDB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2D77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1F571-2BF6-4CB1-9E23-D5EE1FC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250" b="1" i="0">
                <a:solidFill>
                  <a:srgbClr val="2D776D"/>
                </a:solidFill>
              </a:defRPr>
            </a:defPPr>
          </a:lstStyle>
          <a:p xmlns:a="http://schemas.openxmlformats.org/drawingml/2006/main">
            <a:pPr>
              <a:defRPr sz="2250" b="1" i="0">
                <a:solidFill>
                  <a:srgbClr val="2D776D"/>
                </a:solidFill>
              </a:defRPr>
            </a:pPr>
            <a:r>
              <a:rPr sz="2250" b="1" i="0">
                <a:solidFill>
                  <a:srgbClr val="2D776D"/>
                </a:solidFill>
              </a:rPr>
              <a:t>9 / 9 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3F48B-E038-43C3-81BD-0AC1609B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434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Representative Selenium cases executed in 18.42 seconds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73FAB-C00D-438B-8CCF-AC1D56B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CEED2"/>
          </a:solidFill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612DC-0293-4999-A0F4-62BD0400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050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C2A28"/>
                </a:solidFill>
              </a:defRPr>
            </a:pPr>
            <a:r>
              <a:rPr sz="1200" b="1" i="0">
                <a:solidFill>
                  <a:srgbClr val="2C2A28"/>
                </a:solidFill>
              </a:rPr>
              <a:t>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2438B-6830-40D3-8910-DE2AA855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428875"/>
            <a:ext cx="31242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6F6760"/>
                </a:solidFill>
              </a:defRPr>
            </a:pPr>
            <a:r>
              <a:rPr sz="1125" b="0" i="0">
                <a:solidFill>
                  <a:srgbClr val="6F6760"/>
                </a:solidFill>
              </a:rPr>
              <a:t>The 17 baseline failures require triage. The supplied evidence identifies route-protection assumptions as one cause; failures must not be treated automatically as product defects.</a:t>
            </a:r>
          </a:p>
        </p:txBody>
      </p:sp>
    </p:spTree>
    <p:extLst>
      <p:ext uri="{BB962C8B-B14F-4D97-AF65-F5344CB8AC3E}">
        <p14:creationId xmlns:p14="http://schemas.microsoft.com/office/powerpoint/2010/main" val="13874368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BAE43-232B-46CA-BB53-33997652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5DC35-F183-48F7-957E-AD0220A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A3772-728F-4144-A39C-452B5F6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Authentic Selenium execution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C1C93-D33D-4836-AA95-D67ABF94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DD79A-82F8-40FD-8FC0-A7ADF1A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1BBE2-2A57-4204-B4EB-0459698E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4CC45-FF89-4EE0-838A-181D81A12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9f1bfb1404c2e"/>
          <a:stretch xmlns:a="http://schemas.openxmlformats.org/drawingml/2006/main"/>
        </p:blipFill>
        <p:spPr>
          <a:xfrm xmlns:a="http://schemas.openxmlformats.org/drawingml/2006/main">
            <a:off x="590550" y="1861608"/>
            <a:ext cx="5095875" cy="2944283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2D3EA-2398-4869-A916-C91C7EE26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ea06d50f5430e"/>
          <a:stretch xmlns:a="http://schemas.openxmlformats.org/drawingml/2006/main"/>
        </p:blipFill>
        <p:spPr>
          <a:xfrm xmlns:a="http://schemas.openxmlformats.org/drawingml/2006/main">
            <a:off x="6191250" y="1748367"/>
            <a:ext cx="5095875" cy="3170767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4980D-057E-4197-AE32-C7675D9B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 i="1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F6760"/>
                </a:solidFill>
              </a:defRPr>
            </a:pPr>
            <a:r>
              <a:rPr sz="1125" b="0" i="1">
                <a:solidFill>
                  <a:srgbClr val="6F6760"/>
                </a:solidFill>
              </a:rPr>
              <a:t>Left: invalid credential handling  |  Right: selected 9-case Selenium rerun</a:t>
            </a:r>
          </a:p>
        </p:txBody>
      </p:sp>
    </p:spTree>
    <p:extLst>
      <p:ext uri="{BB962C8B-B14F-4D97-AF65-F5344CB8AC3E}">
        <p14:creationId xmlns:p14="http://schemas.microsoft.com/office/powerpoint/2010/main" val="17826483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986C4-708F-4714-A29D-1513973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168A-309E-4756-B911-F37AD02A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  <p:txBody>
          <a:bodyPr xmlns:a="http://schemas.openxmlformats.org/drawingml/2006/main">
            <a:normAutofit fontScale="66552"/>
          </a:bodyPr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53BA3-7D97-4721-98D5-1D7BA91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2475" b="1" i="0">
                <a:solidFill>
                  <a:srgbClr val="2C2A28"/>
                </a:solidFill>
              </a:defRPr>
            </a:pPr>
            <a:r>
              <a:rPr sz="2475" b="1" i="0">
                <a:solidFill>
                  <a:srgbClr val="2C2A28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7A528-8DC3-4F1C-8002-EA52909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C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8AABE-1D4C-429F-9DF2-A72E892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6F6760"/>
                </a:solidFill>
              </a:defRPr>
            </a:pPr>
            <a:r>
              <a:rPr sz="750" b="1" i="0">
                <a:solidFill>
                  <a:srgbClr val="6F6760"/>
                </a:solidFill>
              </a:rPr>
              <a:t>SKILLBRIDGE  /  SOFTWARE ENGINEERING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73CA1-CC41-4FF5-8CC1-3E009D6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185D2-F67E-4862-8D9A-21A59C14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2C2A28"/>
                </a:solidFill>
              </a:defRPr>
            </a:pPr>
            <a:r>
              <a:rPr sz="1800" b="1" i="0">
                <a:solidFill>
                  <a:srgbClr val="2C2A28"/>
                </a:solidFill>
              </a:rPr>
              <a:t>SkillBridge delivers a verified campus marketplace with traceable buyer, seller, and administrator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76BB1-9B7C-4C93-ABE5-1FA0103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539C1-19F7-47C7-8022-1A8E3188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A9D41-4290-42A7-8506-DCDF95E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6F6760"/>
                </a:solidFill>
              </a:defRPr>
            </a:pPr>
            <a:r>
              <a:rPr sz="1200" b="0" i="0">
                <a:solidFill>
                  <a:srgbClr val="6F6760"/>
                </a:solidFill>
              </a:rPr>
              <a:t>Profiles and verification, service listings, availability, orders, test-mode payments, messaging, delivery, reviews, and moderation.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5BA72-0F8A-4767-981E-FF3B7D0D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2"/>
          </a:solidFill>
          <a:ln xmlns:a="http://schemas.openxmlformats.org/drawingml/2006/main" w="0">
            <a:solidFill>
              <a:srgbClr val="E59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D91D6-7B84-4701-AB09-7A3DD92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Testing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CB6AD-F21B-4423-8BCD-1AD07715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6F6760"/>
                </a:solidFill>
              </a:defRPr>
            </a:pPr>
            <a:r>
              <a:rPr sz="1200" b="0" i="0">
                <a:solidFill>
                  <a:srgbClr val="6F6760"/>
                </a:solidFill>
              </a:rPr>
              <a:t>An initial Selenium baseline recorded 22 passes and 17 failures across 39 cases. A focused 9-case rerun passed.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8253D-398C-4043-8F59-EE9E955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76D"/>
          </a:solidFill>
          <a:ln xmlns:a="http://schemas.openxmlformats.org/drawingml/2006/main" w="0">
            <a:solidFill>
              <a:srgbClr val="2D7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AF6E5-5E1F-4D2F-AFE0-7875B38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623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9AACF-EF39-4DB9-9246-449495D6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23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6F6760"/>
                </a:solidFill>
              </a:defRPr>
            </a:pPr>
            <a:r>
              <a:rPr sz="1200" b="0" i="0">
                <a:solidFill>
                  <a:srgbClr val="6F6760"/>
                </a:solidFill>
              </a:rPr>
              <a:t>Razorpay remains in test mode. AI search and email integrations depend on configuration. Full-suite failures need separate triage.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79313-9CF0-4A2A-A041-D76EFE4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81F4A-65CC-4CD1-B53B-B8F947AE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2C2A28"/>
                </a:solidFill>
              </a:defRPr>
            </a:pPr>
            <a:r>
              <a:rPr sz="1275" b="1" i="0">
                <a:solidFill>
                  <a:srgbClr val="2C2A28"/>
                </a:solidFill>
              </a:rPr>
              <a:t>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96ECB-4AEF-4245-B22C-2732A75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6F6760"/>
                </a:solidFill>
              </a:defRPr>
            </a:pPr>
            <a:r>
              <a:rPr sz="1200" b="0" i="0">
                <a:solidFill>
                  <a:srgbClr val="6F6760"/>
                </a:solidFill>
              </a:rPr>
              <a:t>Resolve failed cases, collect code-coverage evidence, validate production configuration, and confirm individual project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5189361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7207A-E2D3-437C-B7A5-044F1633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84A"/>
          </a:solidFill>
          <a:ln xmlns:a="http://schemas.openxmlformats.org/drawingml/2006/main" w="0">
            <a:solidFill>
              <a:srgbClr val="E96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CEE58-14A8-42C5-854B-EEE97AF4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>
            <a:defPPr>
              <a:defRPr sz="4500" b="1" i="0">
                <a:solidFill>
                  <a:srgbClr val="2C2A28"/>
                </a:solidFill>
              </a:defRPr>
            </a:defPPr>
          </a:lstStyle>
          <a:p xmlns:a="http://schemas.openxmlformats.org/drawingml/2006/main">
            <a:pPr>
              <a:defRPr sz="4500" b="1" i="0">
                <a:solidFill>
                  <a:srgbClr val="2C2A28"/>
                </a:solidFill>
              </a:defRPr>
            </a:pPr>
            <a:r>
              <a:rPr sz="4500" b="1" i="0">
                <a:solidFill>
                  <a:srgbClr val="2C2A28"/>
                </a:solidFill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E5205-A1F5-4342-AA76-8300807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E9684A"/>
                </a:solidFill>
              </a:defRPr>
            </a:pPr>
            <a:r>
              <a:rPr sz="2100" b="1" i="0">
                <a:solidFill>
                  <a:srgbClr val="E9684A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663EA-60FA-4551-A497-34E2A63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6F6760"/>
                </a:solidFill>
              </a:defRPr>
            </a:pPr>
            <a:r>
              <a:rPr sz="1500" b="0" i="0">
                <a:solidFill>
                  <a:srgbClr val="6F6760"/>
                </a:solidFill>
              </a:rPr>
              <a:t>SkillBridge</a:t>
            </a:r>
          </a:p>
          <a:p xmlns:a="http://schemas.openxmlformats.org/drawingml/2006/main">
            <a:pPr>
              <a:defRPr sz="1500" b="0" i="0">
                <a:solidFill>
                  <a:srgbClr val="6F6760"/>
                </a:solidFill>
              </a:defRPr>
            </a:pPr>
            <a:r>
              <a:rPr sz="1500" b="0" i="0">
                <a:solidFill>
                  <a:srgbClr val="6F6760"/>
                </a:solidFill>
              </a:rPr>
              <a:t>A verified campus marketplace for student services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496A8-5B83-4A50-98FE-A7F07321C5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3efe28e1a4749"/>
          <a:srcRect xmlns:a="http://schemas.openxmlformats.org/drawingml/2006/main" l="18866" t="0" r="188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1000125"/>
            <a:ext cx="4953000" cy="4476750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3016-D9D8-4F50-82D5-AABB1FCF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6F6760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6F6760"/>
                </a:solidFill>
              </a:defRPr>
            </a:pPr>
            <a:r>
              <a:rPr sz="900" b="1" i="0">
                <a:solidFill>
                  <a:srgbClr val="6F6760"/>
                </a:solidFill>
              </a:rPr>
              <a:t>MIT World Peace University  |  Software Engineering and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9A332-8F84-40DB-967F-04C1646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E9684A"/>
                </a:solidFill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E9684A"/>
                </a:solidFill>
              </a:defRPr>
            </a:pPr>
            <a:r>
              <a:rPr sz="900" b="1" i="0">
                <a:solidFill>
                  <a:srgbClr val="E9684A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10210977"/>
      </p:ext>
    </p:extLst>
  </p:cSld>
</p:sld>
</file>

<file path=ppt/theme/theme1.xml><?xml version="1.0" encoding="utf-8"?>
<a:theme xmlns:a="http://schemas.openxmlformats.org/drawingml/2006/main" name="ChatGPT">
  <a:themeElements>
    <a:clrScheme name="SkillBridge Warm Light">
      <a:dk1>
        <a:srgbClr val="2C2A28"/>
      </a:dk1>
      <a:lt1>
        <a:srgbClr val="FFFFFF"/>
      </a:lt1>
      <a:dk2>
        <a:srgbClr val="6F6760"/>
      </a:dk2>
      <a:lt2>
        <a:srgbClr val="FFF8F0"/>
      </a:lt2>
      <a:accent1>
        <a:srgbClr val="E9684A"/>
      </a:accent1>
      <a:accent2>
        <a:srgbClr val="E59A22"/>
      </a:accent2>
      <a:accent3>
        <a:srgbClr val="2D776D"/>
      </a:accent3>
      <a:accent4>
        <a:srgbClr val="927052"/>
      </a:accent4>
      <a:accent5>
        <a:srgbClr val="6D8B7B"/>
      </a:accent5>
      <a:accent6>
        <a:srgbClr val="D17A5C"/>
      </a:accent6>
      <a:hlink>
        <a:srgbClr val="2D776D"/>
      </a:hlink>
      <a:folHlink>
        <a:srgbClr val="E9684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killBridge Warm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2026-10-11T18:36:28.4780000Z</dcterms:created>
  <dcterms:modified xsi:type="dcterms:W3CDTF">2026-10-11T18:36:28.4790000Z</dcterms:modified>
</coreProperties>
</file>