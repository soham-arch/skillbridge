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4AC6"/>
                </a:solidFill>
              </a:defRPr>
            </a:pPr>
            <a:r>
              <a:t>SkillBridge</a:t>
            </a:r>
          </a:p>
          <a:p>
            <a:pPr>
              <a:defRPr sz="2600" b="1">
                <a:solidFill>
                  <a:srgbClr val="102A4D"/>
                </a:solidFill>
              </a:defRPr>
            </a:pPr>
            <a:r>
              <a:t>Selenium Black-Box Testing &amp; Execution Evidence Showcase</a:t>
            </a:r>
          </a:p>
          <a:p>
            <a:pPr>
              <a:defRPr sz="1500">
                <a:solidFill>
                  <a:srgbClr val="5A5F69"/>
                </a:solidFill>
              </a:defRPr>
            </a:pPr>
            <a:r>
              <a:t>Comprehensive Functional Verification of Authentication, Route Guards &amp; Boundary Invariants</a:t>
            </a:r>
          </a:p>
          <a:p>
            <a:br/>
            <a:pPr>
              <a:defRPr sz="1300">
                <a:solidFill>
                  <a:srgbClr val="004AC6"/>
                </a:solidFill>
              </a:defRPr>
            </a:pPr>
            <a:r>
              <a:t>Framework: Selenium WebDriver 4.51 + pytest 9.1 | Chrome Headless 154 | MIT-WPU Academic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4AC6"/>
                </a:solidFill>
              </a:defRPr>
            </a:pPr>
            <a:r>
              <a:t>SRS — PART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4D"/>
                </a:solidFill>
              </a:defRPr>
            </a:pPr>
            <a:r>
              <a:t>Black Box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32D"/>
                </a:solidFill>
              </a:defRPr>
            </a:pPr>
            <a:r>
              <a:t>• Equivalence Partitioning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91640"/>
          <a:ext cx="1072591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920240"/>
                <a:gridCol w="1737360"/>
                <a:gridCol w="1645920"/>
                <a:gridCol w="2011680"/>
                <a:gridCol w="1645920"/>
                <a:gridCol w="667512"/>
              </a:tblGrid>
              <a:tr h="1097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D"/>
                          </a:solidFill>
                        </a:defRPr>
                      </a:pPr>
                      <a:r>
                        <a:t>Test Case ID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D"/>
                          </a:solidFill>
                        </a:defRPr>
                      </a:pPr>
                      <a:r>
                        <a:t>Test Case Scenario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D"/>
                          </a:solidFill>
                        </a:defRPr>
                      </a:pPr>
                      <a:r>
                        <a:t>Test Step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D"/>
                          </a:solidFill>
                        </a:defRPr>
                      </a:pPr>
                      <a:r>
                        <a:t>Test Data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D"/>
                          </a:solidFill>
                        </a:defRPr>
                      </a:pPr>
                      <a:r>
                        <a:t>Expected Result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D"/>
                          </a:solidFill>
                        </a:defRPr>
                      </a:pPr>
                      <a:r>
                        <a:t>Actual Result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D"/>
                          </a:solidFill>
                        </a:defRPr>
                      </a:pPr>
                      <a:r>
                        <a:t>Pass/Fail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BB-EP-02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Login with valid email and incorrect 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 Open Login page</a:t>
                      </a:r>
                    </a:p>
                    <a:p>
                      <a:r>
                        <a:t>2. Enter valid email</a:t>
                      </a:r>
                    </a:p>
                    <a:p>
                      <a:r>
                        <a:t>3. Enter incorrect password</a:t>
                      </a:r>
                    </a:p>
                    <a:p>
                      <a:r>
                        <a:t>4. Click 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Email: student@mitwpu.edu.in</a:t>
                      </a:r>
                    </a:p>
                    <a:p>
                      <a:r>
                        <a:t>Password: WrongPassword123!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System should reject login and display invalid credentials 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“Invalid email or password” displayed; stayed on /login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8B2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BB-EP-04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Login with empty email — test_empty_email.py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 Open Login page</a:t>
                      </a:r>
                    </a:p>
                    <a:p>
                      <a:r>
                        <a:t>2. Leave email empty</a:t>
                      </a:r>
                    </a:p>
                    <a:p>
                      <a:r>
                        <a:t>3. Enter password</a:t>
                      </a:r>
                    </a:p>
                    <a:p>
                      <a:r>
                        <a:t>4. Click 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Email: Empty</a:t>
                      </a:r>
                    </a:p>
                    <a:p>
                      <a:r>
                        <a:t>Password: ValidPass123!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System should prevent submission and indicate that email is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Browser required-field validation detected client-side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8B2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BB-EP-07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Registration with password mismatch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 Open Register page</a:t>
                      </a:r>
                    </a:p>
                    <a:p>
                      <a:r>
                        <a:t>2. Enter valid student data</a:t>
                      </a:r>
                    </a:p>
                    <a:p>
                      <a:r>
                        <a:t>3. Enter non-matching passwords</a:t>
                      </a:r>
                    </a:p>
                    <a:p>
                      <a:r>
                        <a:t>4. Click Submit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Password: Pass123!</a:t>
                      </a:r>
                    </a:p>
                    <a:p>
                      <a:r>
                        <a:t>Confirm: Different456!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System should display warning that passwords do not 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Toast 'Passwords do not match' displayed; stayed on /register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8B2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4AC6"/>
                </a:solidFill>
              </a:defRPr>
            </a:pPr>
            <a:r>
              <a:t>SRS — PART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4D"/>
                </a:solidFill>
              </a:defRPr>
            </a:pPr>
            <a:r>
              <a:t>Black Box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32D"/>
                </a:solidFill>
              </a:defRPr>
            </a:pPr>
            <a:r>
              <a:t>• Decision Table Testing &amp; Route Guards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91640"/>
          <a:ext cx="1072591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920240"/>
                <a:gridCol w="1737360"/>
                <a:gridCol w="1645920"/>
                <a:gridCol w="2011680"/>
                <a:gridCol w="1645920"/>
                <a:gridCol w="667512"/>
              </a:tblGrid>
              <a:tr h="13716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D"/>
                          </a:solidFill>
                        </a:defRPr>
                      </a:pPr>
                      <a:r>
                        <a:t>Test Case ID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D"/>
                          </a:solidFill>
                        </a:defRPr>
                      </a:pPr>
                      <a:r>
                        <a:t>Test Case Scenario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D"/>
                          </a:solidFill>
                        </a:defRPr>
                      </a:pPr>
                      <a:r>
                        <a:t>Test Step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D"/>
                          </a:solidFill>
                        </a:defRPr>
                      </a:pPr>
                      <a:r>
                        <a:t>Test Data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D"/>
                          </a:solidFill>
                        </a:defRPr>
                      </a:pPr>
                      <a:r>
                        <a:t>Expected Result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D"/>
                          </a:solidFill>
                        </a:defRPr>
                      </a:pPr>
                      <a:r>
                        <a:t>Actual Result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D"/>
                          </a:solidFill>
                        </a:defRPr>
                      </a:pPr>
                      <a:r>
                        <a:t>Pass/Fail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BB-DT-06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Decision Table: Unauthenticated Seller Service Creation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 Request /services/create without active session</a:t>
                      </a:r>
                    </a:p>
                    <a:p>
                      <a:r>
                        <a:t>2. Observe route guard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Session Token: None</a:t>
                      </a:r>
                    </a:p>
                    <a:p>
                      <a:r>
                        <a:t>Target: /services/create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System should block unauthorized listing and redirect to Login gate with returnUrl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Redirected to /login?returnUrl=%2Fservices%2Fcreate; form protected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8B2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BB-UC-04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Complete Unauthenticated Seller Guard 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 Deep link /services/create</a:t>
                      </a:r>
                    </a:p>
                    <a:p>
                      <a:r>
                        <a:t>2. Middleware intercepts</a:t>
                      </a:r>
                    </a:p>
                    <a:p>
                      <a:r>
                        <a:t>3. Sign in card rendered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Deep link: /services/create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Complete seller protection use case should finish successfully and shield marketplace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Guard intercepted workflow cleanly; sign-in card displayed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8B2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4AC6"/>
                </a:solidFill>
              </a:defRPr>
            </a:pPr>
            <a:r>
              <a:t>SRS — PART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4D"/>
                </a:solidFill>
              </a:defRPr>
            </a:pPr>
            <a:r>
              <a:t>Black Box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32D"/>
                </a:solidFill>
              </a:defRPr>
            </a:pPr>
            <a:r>
              <a:t>• State Transition &amp; Boundary Value Analysis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91640"/>
          <a:ext cx="1072591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920240"/>
                <a:gridCol w="1737360"/>
                <a:gridCol w="1645920"/>
                <a:gridCol w="2011680"/>
                <a:gridCol w="1645920"/>
                <a:gridCol w="667512"/>
              </a:tblGrid>
              <a:tr h="1097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D"/>
                          </a:solidFill>
                        </a:defRPr>
                      </a:pPr>
                      <a:r>
                        <a:t>Test Case ID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D"/>
                          </a:solidFill>
                        </a:defRPr>
                      </a:pPr>
                      <a:r>
                        <a:t>Test Case Scenario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D"/>
                          </a:solidFill>
                        </a:defRPr>
                      </a:pPr>
                      <a:r>
                        <a:t>Test Step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D"/>
                          </a:solidFill>
                        </a:defRPr>
                      </a:pPr>
                      <a:r>
                        <a:t>Test Data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D"/>
                          </a:solidFill>
                        </a:defRPr>
                      </a:pPr>
                      <a:r>
                        <a:t>Expected Result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D"/>
                          </a:solidFill>
                        </a:defRPr>
                      </a:pPr>
                      <a:r>
                        <a:t>Actual Result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D"/>
                          </a:solidFill>
                        </a:defRPr>
                      </a:pPr>
                      <a:r>
                        <a:t>Pass/Fail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BB-ST-01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Successful Navigation State Transition (Landing → Login)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 Start at S_Landing (/)</a:t>
                      </a:r>
                    </a:p>
                    <a:p>
                      <a:r>
                        <a:t>2. Click navbar 'Log in'</a:t>
                      </a:r>
                    </a:p>
                    <a:p>
                      <a:r>
                        <a:t>3. Observe next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Navbar Action: 'Log in'</a:t>
                      </a:r>
                    </a:p>
                    <a:p>
                      <a:r>
                        <a:t>State: S_Landing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State should transition from Landing (/) → Login (/login)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Successful transition to /login; Auth form displayed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8B2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BB-BVA-02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Password Length Exact Minimum Boundary (6 characters)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 Open Register page</a:t>
                      </a:r>
                    </a:p>
                    <a:p>
                      <a:r>
                        <a:t>2. Enter 6-char password</a:t>
                      </a:r>
                    </a:p>
                    <a:p>
                      <a:r>
                        <a:t>3. Submit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Password: '123456'</a:t>
                      </a:r>
                    </a:p>
                    <a:p>
                      <a:r>
                        <a:t>Length: 6 (Min Boundary)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Client length validation check passes; no length boundary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Constraint tooShort=False; 6-char password accepted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8B2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BB-BVA-01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Password Length Below Boundary (5 characters)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 Open Register page</a:t>
                      </a:r>
                    </a:p>
                    <a:p>
                      <a:r>
                        <a:t>2. Enter 5-char password</a:t>
                      </a:r>
                    </a:p>
                    <a:p>
                      <a:r>
                        <a:t>3. Submit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Password: '12345'</a:t>
                      </a:r>
                    </a:p>
                    <a:p>
                      <a:r>
                        <a:t>Length: 5 (Min - 1)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Client validation prevents submission with 6-character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HTML5 native validation halted submission client-side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8B2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4AC6"/>
                </a:solidFill>
              </a:defRPr>
            </a:pPr>
            <a:r>
              <a:t>SRS — PART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4D"/>
                </a:solidFill>
              </a:defRPr>
            </a:pPr>
            <a:r>
              <a:t>Black Box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32D"/>
                </a:solidFill>
              </a:defRPr>
            </a:pPr>
            <a:r>
              <a:t>• Test Coverage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2A4D"/>
                </a:solidFill>
              </a:defRPr>
            </a:pPr>
            <a:r>
              <a:t>Test Coverage Overview</a:t>
            </a:r>
          </a:p>
          <a:p>
            <a:pPr>
              <a:defRPr sz="1200">
                <a:solidFill>
                  <a:srgbClr val="1E232D"/>
                </a:solidFill>
              </a:defRPr>
            </a:pPr>
            <a:r>
              <a:t>• User Authentication: Validation of invalid credentials, unconfirmed emails, and empty fields.</a:t>
            </a:r>
          </a:p>
          <a:p>
            <a:pPr>
              <a:defRPr sz="1200">
                <a:solidFill>
                  <a:srgbClr val="1E232D"/>
                </a:solidFill>
              </a:defRPr>
            </a:pPr>
            <a:r>
              <a:t>• Form Validation: Password mismatch rejection and HTML5 mandatory field constraints.</a:t>
            </a:r>
          </a:p>
          <a:p>
            <a:pPr>
              <a:defRPr sz="1200">
                <a:solidFill>
                  <a:srgbClr val="1E232D"/>
                </a:solidFill>
              </a:defRPr>
            </a:pPr>
            <a:r>
              <a:t>• Seller Route Protection: Next.js middleware route guard intercepting unauthenticated listing requests.</a:t>
            </a:r>
          </a:p>
          <a:p>
            <a:pPr>
              <a:defRPr sz="1200">
                <a:solidFill>
                  <a:srgbClr val="1E232D"/>
                </a:solidFill>
              </a:defRPr>
            </a:pPr>
            <a:r>
              <a:t>• State Transitions: Navigation flow from Public Landing state to Authenticated Login Gate.</a:t>
            </a:r>
          </a:p>
          <a:p>
            <a:pPr>
              <a:defRPr sz="1200">
                <a:solidFill>
                  <a:srgbClr val="1E232D"/>
                </a:solidFill>
              </a:defRPr>
            </a:pPr>
            <a:r>
              <a:t>• Boundary Analysis: Evaluation of 6-character minimum password length boundaries.</a:t>
            </a:r>
          </a:p>
          <a:p>
            <a:br/>
            <a:pPr>
              <a:defRPr sz="1300" b="1">
                <a:solidFill>
                  <a:srgbClr val="004AC6"/>
                </a:solidFill>
              </a:defRPr>
            </a:pPr>
            <a:r>
              <a:t>Result:</a:t>
            </a:r>
            <a:br/>
            <a:r>
              <a:t>SkillBridge successfully produced the expected output for valid, invalid, and boundary inputs across all selected representative test scenarios.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691640"/>
          <a:ext cx="5029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188720"/>
                <a:gridCol w="1371600"/>
              </a:tblGrid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D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D"/>
                          </a:solidFill>
                        </a:defRPr>
                      </a:pPr>
                      <a:r>
                        <a:t>Test Cases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D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Authentication &amp; Credentials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228B22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Form Validation &amp; Constraints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228B22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Seller Route Protection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228B22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State Transitions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228B22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Boundary Value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228B22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4754880"/>
          <a:ext cx="5029200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188720"/>
                <a:gridCol w="1371600"/>
              </a:tblGrid>
              <a:tr h="54864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Total Selected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228B22"/>
                          </a:solidFill>
                        </a:defRPr>
                      </a:pPr>
                      <a:r>
                        <a:t>9/9 Passed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4AC6"/>
                </a:solidFill>
              </a:defRPr>
            </a:pPr>
            <a:r>
              <a:t>SRS — PART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4D"/>
                </a:solidFill>
              </a:defRPr>
            </a:pPr>
            <a:r>
              <a:t>Black Box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32D"/>
                </a:solidFill>
              </a:defRPr>
            </a:pPr>
            <a:r>
              <a:t>• Selenium Execution Evidence (Terminal Output)</a:t>
            </a:r>
          </a:p>
        </p:txBody>
      </p:sp>
      <p:pic>
        <p:nvPicPr>
          <p:cNvPr id="5" name="Picture 4" descr="01_invalid_login_exec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5212080" cy="3011424"/>
          </a:xfrm>
          <a:prstGeom prst="rect">
            <a:avLst/>
          </a:prstGeom>
        </p:spPr>
      </p:pic>
      <p:pic>
        <p:nvPicPr>
          <p:cNvPr id="6" name="Picture 5" descr="04_seller_route_protection_exec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91640"/>
            <a:ext cx="5212080" cy="30114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4AC6"/>
                </a:solidFill>
              </a:defRPr>
            </a:pPr>
            <a:r>
              <a:t>SRS — PART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4D"/>
                </a:solidFill>
              </a:defRPr>
            </a:pPr>
            <a:r>
              <a:t>Black Box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32D"/>
                </a:solidFill>
              </a:defRPr>
            </a:pPr>
            <a:r>
              <a:t>• Automated Test Suite Summary (Terminal Evidence)</a:t>
            </a:r>
          </a:p>
        </p:txBody>
      </p:sp>
      <p:pic>
        <p:nvPicPr>
          <p:cNvPr id="5" name="Picture 4" descr="05_selected_tests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691640"/>
            <a:ext cx="9235440" cy="57464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4AC6"/>
                </a:solidFill>
              </a:defRPr>
            </a:pPr>
            <a:r>
              <a:t>SRS — PART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4D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32D"/>
                </a:solidFill>
              </a:defRPr>
            </a:pPr>
            <a:r>
              <a:t>• Testing Conclusion &amp;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E232D"/>
                </a:solidFill>
              </a:defRPr>
            </a:pPr>
            <a:r>
              <a:t>• SkillBridge enforces rigorous client and server boundaries across student authentication and registration workflows.</a:t>
            </a:r>
          </a:p>
          <a:p>
            <a:pPr>
              <a:spcAft>
                <a:spcPts val="1400"/>
              </a:spcAft>
              <a:defRPr sz="1400">
                <a:solidFill>
                  <a:srgbClr val="1E232D"/>
                </a:solidFill>
              </a:defRPr>
            </a:pPr>
            <a:r>
              <a:t>• Sonner alert toasts and HTML5 constraints provide immediate, actionable feedback for invalid credentials and blank required fields.</a:t>
            </a:r>
          </a:p>
          <a:p>
            <a:pPr>
              <a:spcAft>
                <a:spcPts val="1400"/>
              </a:spcAft>
              <a:defRPr sz="1400">
                <a:solidFill>
                  <a:srgbClr val="1E232D"/>
                </a:solidFill>
              </a:defRPr>
            </a:pPr>
            <a:r>
              <a:t>• Next.js middleware provides strict access protection for freelance listing endpoints (/services/create), successfully safeguarding marketplace integrity.</a:t>
            </a:r>
          </a:p>
          <a:p>
            <a:pPr>
              <a:spcAft>
                <a:spcPts val="1400"/>
              </a:spcAft>
              <a:defRPr sz="1400">
                <a:solidFill>
                  <a:srgbClr val="1E232D"/>
                </a:solidFill>
              </a:defRPr>
            </a:pPr>
            <a:r>
              <a:t>• State transitions from public browsing to protected authentication gates preserve redirection queries (returnUrl) seamlessly.</a:t>
            </a:r>
          </a:p>
          <a:p>
            <a:pPr>
              <a:spcAft>
                <a:spcPts val="1400"/>
              </a:spcAft>
              <a:defRPr sz="1400">
                <a:solidFill>
                  <a:srgbClr val="1E232D"/>
                </a:solidFill>
              </a:defRPr>
            </a:pPr>
            <a:r>
              <a:t>• Automated Selenium WebDriver black-box testing confirms 100% pass rate across the representative test matrix, proving production readiness for the tested functional modules.</a:t>
            </a:r>
          </a:p>
          <a:p>
            <a:br/>
            <a:pPr>
              <a:defRPr sz="1600" b="1">
                <a:solidFill>
                  <a:srgbClr val="004AC6"/>
                </a:solidFill>
              </a:defRPr>
            </a:pPr>
            <a:r>
              <a:t>SkillBridge successfully transforms student skill discovery into a reliable, verified, and secure campus marketplace.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